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an operations lead wants to know the next few hours of air quality. The question is whether a model adds anything beyond simply reusing the latest reading. We will show the answer honestly, including where it does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is a government decision-maker. The decision is about investment and policy, not about a single day's operations. Stress the scope: one sensor, an input to planning, not an alerting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in numbers. The outage and the zeros are documented and the zero decision was checked for sensitivity. Source links and access dates are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credibility with the panel: the result is trustworthy because the baseline was given a fair fight and the test set was untouched during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 The model is selected by cross-validation before the test period. Intervals: 1 h +0.8 to +2.2 percent, 3 h +1.9 to +3.4 percent, 6 h +11.9 to +26.8 percent. Be upfront that the short-range gain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horizon with meaningful value. Be honest about tuning: it helps in cross-validation but the test gain is not consistent, which is why the choice was made on cross-validation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research question directly: the external features do not help once the sensor history is used. The wind station is unknown and daily weather comes from another location, so this does not rule out value from better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model fails. This justifies the scope guard in the recommendations. The October haze season is not in the data, so we make no claim about extreme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recommendations around what the results mean for public decisions, not around the forecasting tool. Government owners: NEA monitoring operations and the Meteorological Service Singapore for data; an NEA analytics team for the pilot; the existing alert process stays human-led. Success measures: sensor uptime, calibration error against reference monitors, and weekly pilot error versus the latest reading through the haze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for a government audience: low cost, staged, with a stop option. Owners: NEA monitoring operations and the Meteorological Service Singapore for data; an analytics team for the pilot. The go or no-go criterion is set before the pilot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limits plainly; they are the reason for the recommendations on data and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about tuning. Fold-to-fold variation is large (standard deviation about 1.6 to 2.7 µg/m³), so small differences between configurations are not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02F"/>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02F"/>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F"/>
        </a:solidFill>
      </p:bgPr>
    </p:bg>
    <p:spTree>
      <p:nvGrpSpPr>
        <p:cNvPr id="1" name=""/>
        <p:cNvGrpSpPr/>
        <p:nvPr/>
      </p:nvGrpSpPr>
      <p:grpSpPr>
        <a:xfrm>
          <a:off x="0" y="0"/>
          <a:ext cx="0" cy="0"/>
          <a:chOff x="0" y="0"/>
          <a:chExt cx="0" cy="0"/>
        </a:xfrm>
      </p:grpSpPr>
      <p:sp>
        <p:nvSpPr>
          <p:cNvPr id="2" name="Text 0"/>
          <p:cNvSpPr/>
          <p:nvPr/>
        </p:nvSpPr>
        <p:spPr>
          <a:xfrm>
            <a:off x="812800" y="20904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FA8EE"/>
                </a:solidFill>
                <a:latin typeface="DM Sans" pitchFamily="34" charset="0"/>
                <a:ea typeface="DM Sans" pitchFamily="34" charset="-122"/>
                <a:cs typeface="DM Sans" pitchFamily="34" charset="-120"/>
              </a:rPr>
              <a:t>PREDICTIVE ANALYTICS GROUP PROJECT</a:t>
            </a:r>
            <a:endParaRPr lang="en-US" sz="1400" dirty="0"/>
          </a:p>
        </p:txBody>
      </p:sp>
      <p:sp>
        <p:nvSpPr>
          <p:cNvPr id="3" name="Text 1"/>
          <p:cNvSpPr/>
          <p:nvPr>
            <p:ph type="title"/>
          </p:nvPr>
        </p:nvSpPr>
        <p:spPr>
          <a:xfrm>
            <a:off x="812800" y="2593340"/>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5F1"/>
                </a:solidFill>
                <a:latin typeface="DM Sans" pitchFamily="34" charset="0"/>
                <a:ea typeface="DM Sans" pitchFamily="34" charset="-122"/>
                <a:cs typeface="DM Sans" pitchFamily="34" charset="-120"/>
              </a:rPr>
              <a:t>Can a model beat the latest PM2.5 reading?</a:t>
            </a:r>
            <a:endParaRPr lang="en-US" sz="5200" dirty="0"/>
          </a:p>
        </p:txBody>
      </p:sp>
      <p:sp>
        <p:nvSpPr>
          <p:cNvPr id="4" name="Text 2"/>
          <p:cNvSpPr/>
          <p:nvPr/>
        </p:nvSpPr>
        <p:spPr>
          <a:xfrm>
            <a:off x="812800" y="42341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9C4D0"/>
                </a:solidFill>
                <a:latin typeface="DM Sans" pitchFamily="34" charset="0"/>
                <a:ea typeface="DM Sans" pitchFamily="34" charset="-122"/>
                <a:cs typeface="DM Sans" pitchFamily="34" charset="-120"/>
              </a:rPr>
              <a:t>Short-horizon forecasts at Marine Terrace, Singapore: 1, 3 and 6 hours ahead</a:t>
            </a:r>
            <a:endParaRPr lang="en-US" sz="2000" dirty="0"/>
          </a:p>
        </p:txBody>
      </p:sp>
      <p:sp>
        <p:nvSpPr>
          <p:cNvPr id="5" name="Text 3"/>
          <p:cNvSpPr/>
          <p:nvPr/>
        </p:nvSpPr>
        <p:spPr>
          <a:xfrm>
            <a:off x="812800" y="6238240"/>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0"/>
                </a:solidFill>
                <a:latin typeface="DM Sans" pitchFamily="34" charset="0"/>
                <a:ea typeface="DM Sans" pitchFamily="34" charset="-122"/>
                <a:cs typeface="DM Sans" pitchFamily="34" charset="-120"/>
              </a:rPr>
              <a:t>Group [N] · Energy and Environment · one low-cost sensor, April to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DM Sans" pitchFamily="34" charset="0"/>
                <a:ea typeface="DM Sans" pitchFamily="34" charset="-122"/>
                <a:cs typeface="DM Sans" pitchFamily="34" charset="-120"/>
              </a:rPr>
              <a:t>Should sensor-based forecasts support public air-quality services?</a:t>
            </a:r>
            <a:endParaRPr lang="en-US" sz="3200" dirty="0"/>
          </a:p>
        </p:txBody>
      </p:sp>
      <p:sp>
        <p:nvSpPr>
          <p:cNvPr id="3" name="Shape 1"/>
          <p:cNvSpPr/>
          <p:nvPr/>
        </p:nvSpPr>
        <p:spPr>
          <a:xfrm>
            <a:off x="815975" y="2014855"/>
            <a:ext cx="3380317" cy="2754630"/>
          </a:xfrm>
          <a:prstGeom prst="roundRect">
            <a:avLst>
              <a:gd name="adj" fmla="val 3573"/>
            </a:avLst>
          </a:prstGeom>
          <a:solidFill>
            <a:srgbClr val="FDFCFA"/>
          </a:solidFill>
          <a:ln w="6350">
            <a:solidFill>
              <a:srgbClr val="DCD9D1"/>
            </a:solidFill>
            <a:prstDash val="solid"/>
          </a:ln>
        </p:spPr>
      </p:sp>
      <p:sp>
        <p:nvSpPr>
          <p:cNvPr id="4" name="Text 2"/>
          <p:cNvSpPr/>
          <p:nvPr/>
        </p:nvSpPr>
        <p:spPr>
          <a:xfrm>
            <a:off x="1071880" y="227076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63B8"/>
                </a:solidFill>
                <a:latin typeface="DM Sans" pitchFamily="34" charset="0"/>
                <a:ea typeface="DM Sans" pitchFamily="34" charset="-122"/>
                <a:cs typeface="DM Sans" pitchFamily="34" charset="-120"/>
              </a:rPr>
              <a:t>Who decides</a:t>
            </a:r>
            <a:endParaRPr lang="en-US" sz="1800" dirty="0"/>
          </a:p>
        </p:txBody>
      </p:sp>
      <p:sp>
        <p:nvSpPr>
          <p:cNvPr id="5" name="Text 3"/>
          <p:cNvSpPr/>
          <p:nvPr/>
        </p:nvSpPr>
        <p:spPr>
          <a:xfrm>
            <a:off x="1071880" y="2646680"/>
            <a:ext cx="2954562" cy="18923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202F"/>
                </a:solidFill>
                <a:latin typeface="DM Sans" pitchFamily="34" charset="0"/>
                <a:ea typeface="DM Sans" pitchFamily="34" charset="-122"/>
                <a:cs typeface="DM Sans" pitchFamily="34" charset="-120"/>
              </a:rPr>
              <a:t>A government environmental agency (NEA, under the Ministry of Sustainability and the Environment): the director responsible for air-quality monitoring and public communication.</a:t>
            </a:r>
            <a:endParaRPr lang="en-US" sz="1500" dirty="0"/>
          </a:p>
        </p:txBody>
      </p:sp>
      <p:sp>
        <p:nvSpPr>
          <p:cNvPr id="6" name="Shape 4"/>
          <p:cNvSpPr/>
          <p:nvPr/>
        </p:nvSpPr>
        <p:spPr>
          <a:xfrm>
            <a:off x="4405842" y="2014855"/>
            <a:ext cx="3380317" cy="2754630"/>
          </a:xfrm>
          <a:prstGeom prst="roundRect">
            <a:avLst>
              <a:gd name="adj" fmla="val 3573"/>
            </a:avLst>
          </a:prstGeom>
          <a:solidFill>
            <a:srgbClr val="FDFCFA"/>
          </a:solidFill>
          <a:ln w="6350">
            <a:solidFill>
              <a:srgbClr val="DCD9D1"/>
            </a:solidFill>
            <a:prstDash val="solid"/>
          </a:ln>
        </p:spPr>
      </p:sp>
      <p:sp>
        <p:nvSpPr>
          <p:cNvPr id="7" name="Text 5"/>
          <p:cNvSpPr/>
          <p:nvPr/>
        </p:nvSpPr>
        <p:spPr>
          <a:xfrm>
            <a:off x="4661746" y="227076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63B8"/>
                </a:solidFill>
                <a:latin typeface="DM Sans" pitchFamily="34" charset="0"/>
                <a:ea typeface="DM Sans" pitchFamily="34" charset="-122"/>
                <a:cs typeface="DM Sans" pitchFamily="34" charset="-120"/>
              </a:rPr>
              <a:t>What they decide</a:t>
            </a:r>
            <a:endParaRPr lang="en-US" sz="1800" dirty="0"/>
          </a:p>
        </p:txBody>
      </p:sp>
      <p:sp>
        <p:nvSpPr>
          <p:cNvPr id="8" name="Text 6"/>
          <p:cNvSpPr/>
          <p:nvPr/>
        </p:nvSpPr>
        <p:spPr>
          <a:xfrm>
            <a:off x="4661746" y="2646680"/>
            <a:ext cx="295456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202F"/>
                </a:solidFill>
                <a:latin typeface="DM Sans" pitchFamily="34" charset="0"/>
                <a:ea typeface="DM Sans" pitchFamily="34" charset="-122"/>
                <a:cs typeface="DM Sans" pitchFamily="34" charset="-120"/>
              </a:rPr>
              <a:t>Where to invest monitoring and data effort, and whether short-horizon forecasts from low-cost sensors deserve a place in public services.</a:t>
            </a:r>
            <a:endParaRPr lang="en-US" sz="1500" dirty="0"/>
          </a:p>
        </p:txBody>
      </p:sp>
      <p:sp>
        <p:nvSpPr>
          <p:cNvPr id="9" name="Shape 7"/>
          <p:cNvSpPr/>
          <p:nvPr/>
        </p:nvSpPr>
        <p:spPr>
          <a:xfrm>
            <a:off x="7995708" y="2014855"/>
            <a:ext cx="3380317" cy="2754630"/>
          </a:xfrm>
          <a:prstGeom prst="roundRect">
            <a:avLst>
              <a:gd name="adj" fmla="val 3573"/>
            </a:avLst>
          </a:prstGeom>
          <a:solidFill>
            <a:srgbClr val="FDFCFA"/>
          </a:solidFill>
          <a:ln w="6350">
            <a:solidFill>
              <a:srgbClr val="DCD9D1"/>
            </a:solidFill>
            <a:prstDash val="solid"/>
          </a:ln>
        </p:spPr>
      </p:sp>
      <p:sp>
        <p:nvSpPr>
          <p:cNvPr id="10" name="Text 8"/>
          <p:cNvSpPr/>
          <p:nvPr/>
        </p:nvSpPr>
        <p:spPr>
          <a:xfrm>
            <a:off x="8251613" y="227076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63B8"/>
                </a:solidFill>
                <a:latin typeface="DM Sans" pitchFamily="34" charset="0"/>
                <a:ea typeface="DM Sans" pitchFamily="34" charset="-122"/>
                <a:cs typeface="DM Sans" pitchFamily="34" charset="-120"/>
              </a:rPr>
              <a:t>Our question</a:t>
            </a:r>
            <a:endParaRPr lang="en-US" sz="1800" dirty="0"/>
          </a:p>
        </p:txBody>
      </p:sp>
      <p:sp>
        <p:nvSpPr>
          <p:cNvPr id="11" name="Text 9"/>
          <p:cNvSpPr/>
          <p:nvPr/>
        </p:nvSpPr>
        <p:spPr>
          <a:xfrm>
            <a:off x="8251613" y="2646680"/>
            <a:ext cx="29545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202F"/>
                </a:solidFill>
                <a:latin typeface="DM Sans" pitchFamily="34" charset="0"/>
                <a:ea typeface="DM Sans" pitchFamily="34" charset="-122"/>
                <a:cs typeface="DM Sans" pitchFamily="34" charset="-120"/>
              </a:rPr>
              <a:t>Can PM2.5 be forecast 1, 3 and 6 hours ahead better than reusing the latest reading, and do wind and daily weather help?</a:t>
            </a:r>
            <a:endParaRPr lang="en-US" sz="1500" dirty="0"/>
          </a:p>
        </p:txBody>
      </p:sp>
      <p:sp>
        <p:nvSpPr>
          <p:cNvPr id="12" name="Text 10"/>
          <p:cNvSpPr/>
          <p:nvPr/>
        </p:nvSpPr>
        <p:spPr>
          <a:xfrm>
            <a:off x="812800" y="507746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DM Sans" pitchFamily="34" charset="0"/>
                <a:ea typeface="DM Sans" pitchFamily="34" charset="-122"/>
                <a:cs typeface="DM Sans" pitchFamily="34" charset="-120"/>
              </a:rPr>
              <a:t>Scope: one low-cost sensor at Marine Terrace. A planning and investment input, not a haze early-warning system.</a:t>
            </a:r>
            <a:endParaRPr lang="en-US" sz="1500" dirty="0"/>
          </a:p>
        </p:txBody>
      </p:sp>
      <p:sp>
        <p:nvSpPr>
          <p:cNvPr id="13"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Short-horizon PM2.5 forecasting · Marine Terrace</a:t>
            </a:r>
            <a:endParaRPr lang="en-US" sz="1200" dirty="0"/>
          </a:p>
        </p:txBody>
      </p:sp>
      <p:sp>
        <p:nvSpPr>
          <p:cNvPr id="14" name="Text 12"/>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0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DM Sans" pitchFamily="34" charset="0"/>
                <a:ea typeface="DM Sans" pitchFamily="34" charset="-122"/>
                <a:cs typeface="DM Sans" pitchFamily="34" charset="-120"/>
              </a:rPr>
              <a:t>Five months of hourly data from one sensor</a:t>
            </a:r>
            <a:endParaRPr lang="en-US" sz="3200" dirty="0"/>
          </a:p>
        </p:txBody>
      </p:sp>
      <p:sp>
        <p:nvSpPr>
          <p:cNvPr id="3" name="Shape 1"/>
          <p:cNvSpPr/>
          <p:nvPr/>
        </p:nvSpPr>
        <p:spPr>
          <a:xfrm>
            <a:off x="812800" y="1628139"/>
            <a:ext cx="3386667" cy="0"/>
          </a:xfrm>
          <a:prstGeom prst="line">
            <a:avLst/>
          </a:prstGeom>
          <a:noFill/>
          <a:ln w="25400">
            <a:solidFill>
              <a:srgbClr val="6FA8EE"/>
            </a:solidFill>
            <a:prstDash val="solid"/>
          </a:ln>
        </p:spPr>
      </p:sp>
      <p:sp>
        <p:nvSpPr>
          <p:cNvPr id="4" name="Text 2"/>
          <p:cNvSpPr/>
          <p:nvPr/>
        </p:nvSpPr>
        <p:spPr>
          <a:xfrm>
            <a:off x="812800" y="1793239"/>
            <a:ext cx="3488267" cy="61214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6F5F1"/>
                </a:solidFill>
                <a:latin typeface="DM Sans" pitchFamily="34" charset="0"/>
                <a:ea typeface="DM Sans" pitchFamily="34" charset="-122"/>
                <a:cs typeface="DM Sans" pitchFamily="34" charset="-120"/>
              </a:rPr>
              <a:t>2,934</a:t>
            </a:r>
            <a:endParaRPr lang="en-US" sz="4400" dirty="0"/>
          </a:p>
        </p:txBody>
      </p:sp>
      <p:sp>
        <p:nvSpPr>
          <p:cNvPr id="5" name="Text 3"/>
          <p:cNvSpPr/>
          <p:nvPr/>
        </p:nvSpPr>
        <p:spPr>
          <a:xfrm>
            <a:off x="812800" y="2456180"/>
            <a:ext cx="348826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D0"/>
                </a:solidFill>
                <a:latin typeface="DM Sans" pitchFamily="34" charset="0"/>
                <a:ea typeface="DM Sans" pitchFamily="34" charset="-122"/>
                <a:cs typeface="DM Sans" pitchFamily="34" charset="-120"/>
              </a:rPr>
              <a:t>observed hours out of 3,446 on the hourly grid (85 %). Missing hours stay missing.</a:t>
            </a:r>
            <a:endParaRPr lang="en-US" sz="1500" dirty="0"/>
          </a:p>
        </p:txBody>
      </p:sp>
      <p:sp>
        <p:nvSpPr>
          <p:cNvPr id="6" name="Shape 4"/>
          <p:cNvSpPr/>
          <p:nvPr/>
        </p:nvSpPr>
        <p:spPr>
          <a:xfrm>
            <a:off x="4402667" y="1628139"/>
            <a:ext cx="3386667" cy="0"/>
          </a:xfrm>
          <a:prstGeom prst="line">
            <a:avLst/>
          </a:prstGeom>
          <a:noFill/>
          <a:ln w="25400">
            <a:solidFill>
              <a:srgbClr val="F08A5D"/>
            </a:solidFill>
            <a:prstDash val="solid"/>
          </a:ln>
        </p:spPr>
      </p:sp>
      <p:sp>
        <p:nvSpPr>
          <p:cNvPr id="7" name="Text 5"/>
          <p:cNvSpPr/>
          <p:nvPr/>
        </p:nvSpPr>
        <p:spPr>
          <a:xfrm>
            <a:off x="4402667" y="1793239"/>
            <a:ext cx="3488267" cy="61214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6F5F1"/>
                </a:solidFill>
                <a:latin typeface="DM Sans" pitchFamily="34" charset="0"/>
                <a:ea typeface="DM Sans" pitchFamily="34" charset="-122"/>
                <a:cs typeface="DM Sans" pitchFamily="34" charset="-120"/>
              </a:rPr>
              <a:t>17 days</a:t>
            </a:r>
            <a:endParaRPr lang="en-US" sz="4400" dirty="0"/>
          </a:p>
        </p:txBody>
      </p:sp>
      <p:sp>
        <p:nvSpPr>
          <p:cNvPr id="8" name="Text 6"/>
          <p:cNvSpPr/>
          <p:nvPr/>
        </p:nvSpPr>
        <p:spPr>
          <a:xfrm>
            <a:off x="4402667" y="2456180"/>
            <a:ext cx="348826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D0"/>
                </a:solidFill>
                <a:latin typeface="DM Sans" pitchFamily="34" charset="0"/>
                <a:ea typeface="DM Sans" pitchFamily="34" charset="-122"/>
                <a:cs typeface="DM Sans" pitchFamily="34" charset="-120"/>
              </a:rPr>
              <a:t>longest sensor outage (28 April to 15 May). Features never bridge it.</a:t>
            </a:r>
            <a:endParaRPr lang="en-US" sz="1500" dirty="0"/>
          </a:p>
        </p:txBody>
      </p:sp>
      <p:sp>
        <p:nvSpPr>
          <p:cNvPr id="9" name="Shape 7"/>
          <p:cNvSpPr/>
          <p:nvPr/>
        </p:nvSpPr>
        <p:spPr>
          <a:xfrm>
            <a:off x="7992533" y="1628139"/>
            <a:ext cx="3386667" cy="0"/>
          </a:xfrm>
          <a:prstGeom prst="line">
            <a:avLst/>
          </a:prstGeom>
          <a:noFill/>
          <a:ln w="25400">
            <a:solidFill>
              <a:srgbClr val="6FA8EE"/>
            </a:solidFill>
            <a:prstDash val="solid"/>
          </a:ln>
        </p:spPr>
      </p:sp>
      <p:sp>
        <p:nvSpPr>
          <p:cNvPr id="10" name="Text 8"/>
          <p:cNvSpPr/>
          <p:nvPr/>
        </p:nvSpPr>
        <p:spPr>
          <a:xfrm>
            <a:off x="7992533" y="1793239"/>
            <a:ext cx="3488267" cy="61214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6F5F1"/>
                </a:solidFill>
                <a:latin typeface="DM Sans" pitchFamily="34" charset="0"/>
                <a:ea typeface="DM Sans" pitchFamily="34" charset="-122"/>
                <a:cs typeface="DM Sans" pitchFamily="34" charset="-120"/>
              </a:rPr>
              <a:t>24</a:t>
            </a:r>
            <a:endParaRPr lang="en-US" sz="4400" dirty="0"/>
          </a:p>
        </p:txBody>
      </p:sp>
      <p:sp>
        <p:nvSpPr>
          <p:cNvPr id="11" name="Text 9"/>
          <p:cNvSpPr/>
          <p:nvPr/>
        </p:nvSpPr>
        <p:spPr>
          <a:xfrm>
            <a:off x="7992533" y="2456180"/>
            <a:ext cx="348826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D0"/>
                </a:solidFill>
                <a:latin typeface="DM Sans" pitchFamily="34" charset="0"/>
                <a:ea typeface="DM Sans" pitchFamily="34" charset="-122"/>
                <a:cs typeface="DM Sans" pitchFamily="34" charset="-120"/>
              </a:rPr>
              <a:t>exact-zero readings, treated as dropouts and tested both ways.</a:t>
            </a:r>
            <a:endParaRPr lang="en-US" sz="1500" dirty="0"/>
          </a:p>
        </p:txBody>
      </p:sp>
      <p:sp>
        <p:nvSpPr>
          <p:cNvPr id="12" name="Text 10"/>
          <p:cNvSpPr/>
          <p:nvPr/>
        </p:nvSpPr>
        <p:spPr>
          <a:xfrm>
            <a:off x="812800" y="361188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D0"/>
                </a:solidFill>
                <a:latin typeface="DM Sans" pitchFamily="34" charset="0"/>
                <a:ea typeface="DM Sans" pitchFamily="34" charset="-122"/>
                <a:cs typeface="DM Sans" pitchFamily="34" charset="-120"/>
              </a:rPr>
              <a:t>Sources: OpenAQ (AirGradient sensor), Meteorological Service Singapore daily weather at Marina Barrage, hourly wind direction from the data.gov.sg API.</a:t>
            </a:r>
            <a:endParaRPr lang="en-US" sz="1500" dirty="0"/>
          </a:p>
        </p:txBody>
      </p:sp>
      <p:sp>
        <p:nvSpPr>
          <p:cNvPr id="13"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0"/>
                </a:solidFill>
                <a:latin typeface="DM Sans" pitchFamily="34" charset="0"/>
                <a:ea typeface="DM Sans" pitchFamily="34" charset="-122"/>
                <a:cs typeface="DM Sans" pitchFamily="34" charset="-120"/>
              </a:rPr>
              <a:t>Short-horizon PM2.5 forecasting · Marine Terrace</a:t>
            </a:r>
            <a:endParaRPr lang="en-US" sz="1200" dirty="0"/>
          </a:p>
        </p:txBody>
      </p:sp>
      <p:sp>
        <p:nvSpPr>
          <p:cNvPr id="14" name="Text 12"/>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D0"/>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DM Sans" pitchFamily="34" charset="0"/>
                <a:ea typeface="DM Sans" pitchFamily="34" charset="-122"/>
                <a:cs typeface="DM Sans" pitchFamily="34" charset="-120"/>
              </a:rPr>
              <a:t>The test was designed to be fair to the baseline</a:t>
            </a:r>
            <a:endParaRPr lang="en-US" sz="3200" dirty="0"/>
          </a:p>
        </p:txBody>
      </p:sp>
      <p:sp>
        <p:nvSpPr>
          <p:cNvPr id="3" name="Shape 1"/>
          <p:cNvSpPr/>
          <p:nvPr/>
        </p:nvSpPr>
        <p:spPr>
          <a:xfrm>
            <a:off x="815975" y="1567814"/>
            <a:ext cx="5175250" cy="1543050"/>
          </a:xfrm>
          <a:prstGeom prst="roundRect">
            <a:avLst>
              <a:gd name="adj" fmla="val 6379"/>
            </a:avLst>
          </a:prstGeom>
          <a:solidFill>
            <a:srgbClr val="FDFCFA"/>
          </a:solidFill>
          <a:ln w="6350">
            <a:solidFill>
              <a:srgbClr val="DCD9D1"/>
            </a:solidFill>
            <a:prstDash val="solid"/>
          </a:ln>
        </p:spPr>
      </p:sp>
      <p:sp>
        <p:nvSpPr>
          <p:cNvPr id="4" name="Text 2"/>
          <p:cNvSpPr/>
          <p:nvPr/>
        </p:nvSpPr>
        <p:spPr>
          <a:xfrm>
            <a:off x="1046480" y="1798320"/>
            <a:ext cx="485566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Time order only</a:t>
            </a:r>
            <a:endParaRPr lang="en-US" sz="1700" dirty="0"/>
          </a:p>
        </p:txBody>
      </p:sp>
      <p:sp>
        <p:nvSpPr>
          <p:cNvPr id="5" name="Text 3"/>
          <p:cNvSpPr/>
          <p:nvPr/>
        </p:nvSpPr>
        <p:spPr>
          <a:xfrm>
            <a:off x="1046480" y="21336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Chronological 70 / 15 / 15 split by target time. Samples straddling a boundary are purged.</a:t>
            </a:r>
            <a:endParaRPr lang="en-US" sz="1400" dirty="0"/>
          </a:p>
        </p:txBody>
      </p:sp>
      <p:sp>
        <p:nvSpPr>
          <p:cNvPr id="6" name="Shape 4"/>
          <p:cNvSpPr/>
          <p:nvPr/>
        </p:nvSpPr>
        <p:spPr>
          <a:xfrm>
            <a:off x="6200775" y="1567814"/>
            <a:ext cx="5175250" cy="1543050"/>
          </a:xfrm>
          <a:prstGeom prst="roundRect">
            <a:avLst>
              <a:gd name="adj" fmla="val 6379"/>
            </a:avLst>
          </a:prstGeom>
          <a:solidFill>
            <a:srgbClr val="FDFCFA"/>
          </a:solidFill>
          <a:ln w="6350">
            <a:solidFill>
              <a:srgbClr val="DCD9D1"/>
            </a:solidFill>
            <a:prstDash val="solid"/>
          </a:ln>
        </p:spPr>
      </p:sp>
      <p:sp>
        <p:nvSpPr>
          <p:cNvPr id="7" name="Text 5"/>
          <p:cNvSpPr/>
          <p:nvPr/>
        </p:nvSpPr>
        <p:spPr>
          <a:xfrm>
            <a:off x="6431280" y="1798320"/>
            <a:ext cx="485566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No leakage</a:t>
            </a:r>
            <a:endParaRPr lang="en-US" sz="1700" dirty="0"/>
          </a:p>
        </p:txBody>
      </p:sp>
      <p:sp>
        <p:nvSpPr>
          <p:cNvPr id="8" name="Text 6"/>
          <p:cNvSpPr/>
          <p:nvPr/>
        </p:nvSpPr>
        <p:spPr>
          <a:xfrm>
            <a:off x="6431280" y="2133600"/>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Wind from the last completed hour, daily weather from the previous day, targets never filled. A perturbation test confirms it.</a:t>
            </a:r>
            <a:endParaRPr lang="en-US" sz="1400" dirty="0"/>
          </a:p>
        </p:txBody>
      </p:sp>
      <p:sp>
        <p:nvSpPr>
          <p:cNvPr id="9" name="Shape 7"/>
          <p:cNvSpPr/>
          <p:nvPr/>
        </p:nvSpPr>
        <p:spPr>
          <a:xfrm>
            <a:off x="815975" y="3320414"/>
            <a:ext cx="5175250" cy="1294130"/>
          </a:xfrm>
          <a:prstGeom prst="roundRect">
            <a:avLst>
              <a:gd name="adj" fmla="val 7605"/>
            </a:avLst>
          </a:prstGeom>
          <a:solidFill>
            <a:srgbClr val="FDFCFA"/>
          </a:solidFill>
          <a:ln w="6350">
            <a:solidFill>
              <a:srgbClr val="DCD9D1"/>
            </a:solidFill>
            <a:prstDash val="solid"/>
          </a:ln>
        </p:spPr>
      </p:sp>
      <p:sp>
        <p:nvSpPr>
          <p:cNvPr id="10" name="Text 8"/>
          <p:cNvSpPr/>
          <p:nvPr/>
        </p:nvSpPr>
        <p:spPr>
          <a:xfrm>
            <a:off x="1046480" y="3550920"/>
            <a:ext cx="485566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Tuning without the test set</a:t>
            </a:r>
            <a:endParaRPr lang="en-US" sz="1700" dirty="0"/>
          </a:p>
        </p:txBody>
      </p:sp>
      <p:sp>
        <p:nvSpPr>
          <p:cNvPr id="11" name="Text 9"/>
          <p:cNvSpPr/>
          <p:nvPr/>
        </p:nvSpPr>
        <p:spPr>
          <a:xfrm>
            <a:off x="1046480" y="38862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Two shortlisted models, grid search, four expanding-window folds on train plus validation, scored by MAE.</a:t>
            </a:r>
            <a:endParaRPr lang="en-US" sz="1400" dirty="0"/>
          </a:p>
        </p:txBody>
      </p:sp>
      <p:sp>
        <p:nvSpPr>
          <p:cNvPr id="12" name="Shape 10"/>
          <p:cNvSpPr/>
          <p:nvPr/>
        </p:nvSpPr>
        <p:spPr>
          <a:xfrm>
            <a:off x="6200775" y="3320414"/>
            <a:ext cx="5175250" cy="1294130"/>
          </a:xfrm>
          <a:prstGeom prst="roundRect">
            <a:avLst>
              <a:gd name="adj" fmla="val 7605"/>
            </a:avLst>
          </a:prstGeom>
          <a:solidFill>
            <a:srgbClr val="FDFCFA"/>
          </a:solidFill>
          <a:ln w="6350">
            <a:solidFill>
              <a:srgbClr val="DCD9D1"/>
            </a:solidFill>
            <a:prstDash val="solid"/>
          </a:ln>
        </p:spPr>
      </p:sp>
      <p:sp>
        <p:nvSpPr>
          <p:cNvPr id="13" name="Text 11"/>
          <p:cNvSpPr/>
          <p:nvPr/>
        </p:nvSpPr>
        <p:spPr>
          <a:xfrm>
            <a:off x="6431280" y="3550920"/>
            <a:ext cx="485566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Choice fixed first</a:t>
            </a:r>
            <a:endParaRPr lang="en-US" sz="1700" dirty="0"/>
          </a:p>
        </p:txBody>
      </p:sp>
      <p:sp>
        <p:nvSpPr>
          <p:cNvPr id="14" name="Text 12"/>
          <p:cNvSpPr/>
          <p:nvPr/>
        </p:nvSpPr>
        <p:spPr>
          <a:xfrm>
            <a:off x="6431280" y="38862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Lowest cross-validated error wins, or persistence if nothing beats it. The test period is scored once.</a:t>
            </a:r>
            <a:endParaRPr lang="en-US" sz="1400" dirty="0"/>
          </a:p>
        </p:txBody>
      </p:sp>
      <p:sp>
        <p:nvSpPr>
          <p:cNvPr id="15" name="Text 1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Short-horizon PM2.5 forecasting · Marine Terrace</a:t>
            </a:r>
            <a:endParaRPr lang="en-US" sz="1200" dirty="0"/>
          </a:p>
        </p:txBody>
      </p:sp>
      <p:sp>
        <p:nvSpPr>
          <p:cNvPr id="16" name="Text 1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DM Sans" pitchFamily="34" charset="0"/>
                <a:ea typeface="DM Sans" pitchFamily="34" charset="-122"/>
                <a:cs typeface="DM Sans" pitchFamily="34" charset="-120"/>
              </a:rPr>
              <a:t>Persistence is hard to beat for the next 3 hours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49399"/>
          <a:ext cx="10556240" cy="2156460"/>
        </p:xfrm>
        <a:graphic>
          <a:graphicData uri="http://schemas.openxmlformats.org/drawingml/2006/table">
            <a:tbl>
              <a:tblPr/>
              <a:tblGrid>
                <a:gridCol w="1688998"/>
                <a:gridCol w="2744622"/>
                <a:gridCol w="1900123"/>
                <a:gridCol w="1900123"/>
                <a:gridCol w="2322373"/>
              </a:tblGrid>
              <a:tr h="765810">
                <a:tc>
                  <a:txBody>
                    <a:bodyPr/>
                    <a:lstStyle/>
                    <a:p>
                      <a:pPr indent="0" marL="0">
                        <a:lnSpc>
                          <a:spcPts val="2380"/>
                        </a:lnSpc>
                        <a:buNone/>
                      </a:pPr>
                      <a:r>
                        <a:rPr lang="en-US" sz="1700" b="1" dirty="0">
                          <a:solidFill>
                            <a:srgbClr val="12202F"/>
                          </a:solidFill>
                          <a:latin typeface="DM Sans" pitchFamily="34" charset="0"/>
                          <a:ea typeface="DM Sans" pitchFamily="34" charset="-122"/>
                          <a:cs typeface="DM Sans" pitchFamily="34" charset="-120"/>
                        </a:rPr>
                        <a:t>Horizon</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2380"/>
                        </a:lnSpc>
                        <a:buNone/>
                      </a:pPr>
                      <a:r>
                        <a:rPr lang="en-US" sz="1700" b="1" dirty="0">
                          <a:solidFill>
                            <a:srgbClr val="12202F"/>
                          </a:solidFill>
                          <a:latin typeface="DM Sans" pitchFamily="34" charset="0"/>
                          <a:ea typeface="DM Sans" pitchFamily="34" charset="-122"/>
                          <a:cs typeface="DM Sans" pitchFamily="34" charset="-120"/>
                        </a:rPr>
                        <a:t>Final model (chosen by CV)</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2380"/>
                        </a:lnSpc>
                        <a:buNone/>
                      </a:pPr>
                      <a:r>
                        <a:rPr lang="en-US" sz="1700" b="1" dirty="0">
                          <a:solidFill>
                            <a:srgbClr val="12202F"/>
                          </a:solidFill>
                          <a:latin typeface="DM Sans" pitchFamily="34" charset="0"/>
                          <a:ea typeface="DM Sans" pitchFamily="34" charset="-122"/>
                          <a:cs typeface="DM Sans" pitchFamily="34" charset="-120"/>
                        </a:rPr>
                        <a:t>Test MAE</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2380"/>
                        </a:lnSpc>
                        <a:buNone/>
                      </a:pPr>
                      <a:r>
                        <a:rPr lang="en-US" sz="1700" b="1" dirty="0">
                          <a:solidFill>
                            <a:srgbClr val="12202F"/>
                          </a:solidFill>
                          <a:latin typeface="DM Sans" pitchFamily="34" charset="0"/>
                          <a:ea typeface="DM Sans" pitchFamily="34" charset="-122"/>
                          <a:cs typeface="DM Sans" pitchFamily="34" charset="-120"/>
                        </a:rPr>
                        <a:t>Persistence MAE</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2380"/>
                        </a:lnSpc>
                        <a:buNone/>
                      </a:pPr>
                      <a:r>
                        <a:rPr lang="en-US" sz="1700" b="1" dirty="0">
                          <a:solidFill>
                            <a:srgbClr val="12202F"/>
                          </a:solidFill>
                          <a:latin typeface="DM Sans" pitchFamily="34" charset="0"/>
                          <a:ea typeface="DM Sans" pitchFamily="34" charset="-122"/>
                          <a:cs typeface="DM Sans" pitchFamily="34" charset="-120"/>
                        </a:rPr>
                        <a:t>MAE skill</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63550">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1 h</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ElasticNet, tuned</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5.22</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5.31</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+1.6 %</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63550">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3 h</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ElasticNet, tuned</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8.28</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8.52</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+2.8 %</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63550">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6 h</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ElasticNet, tuned</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8.84</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10.97</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+19.5 %</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398526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DM Sans" pitchFamily="34" charset="0"/>
                <a:ea typeface="DM Sans" pitchFamily="34" charset="-122"/>
                <a:cs typeface="DM Sans" pitchFamily="34" charset="-120"/>
              </a:rPr>
              <a:t>MAE in µg/m³ on 13 to 31 August 2026 (about 420 hours per horizon). Skill = 1 − model MAE / persistence MAE. At 1 h and 3 h the gain is about 2 to 3 %, which has little practical value.</a:t>
            </a:r>
            <a:endParaRPr lang="en-US" sz="1500" dirty="0"/>
          </a:p>
        </p:txBody>
      </p:sp>
      <p:sp>
        <p:nvSpPr>
          <p:cNvPr id="5" name="Text 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Intervals use a 24-hour moving-block bootstrap and are approximate.</a:t>
            </a:r>
            <a:endParaRPr lang="en-US" sz="1200" dirty="0"/>
          </a:p>
        </p:txBody>
      </p:sp>
      <p:sp>
        <p:nvSpPr>
          <p:cNvPr id="6" name="Text 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0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DM Sans" pitchFamily="34" charset="0"/>
                <a:ea typeface="DM Sans" pitchFamily="34" charset="-122"/>
                <a:cs typeface="DM Sans" pitchFamily="34" charset="-120"/>
              </a:rPr>
              <a:t>Six hours ahead is where the model earns its place</a:t>
            </a:r>
            <a:endParaRPr lang="en-US" sz="3200" dirty="0"/>
          </a:p>
        </p:txBody>
      </p:sp>
      <p:sp>
        <p:nvSpPr>
          <p:cNvPr id="3" name="Text 1"/>
          <p:cNvSpPr/>
          <p:nvPr/>
        </p:nvSpPr>
        <p:spPr>
          <a:xfrm>
            <a:off x="812800" y="1488439"/>
            <a:ext cx="350930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FA8EE"/>
                </a:solidFill>
                <a:latin typeface="DM Sans" pitchFamily="34" charset="0"/>
                <a:ea typeface="DM Sans" pitchFamily="34" charset="-122"/>
                <a:cs typeface="DM Sans" pitchFamily="34" charset="-120"/>
              </a:rPr>
              <a:t>+19.5 %</a:t>
            </a:r>
            <a:endParaRPr lang="en-US" sz="6000" dirty="0"/>
          </a:p>
        </p:txBody>
      </p:sp>
      <p:sp>
        <p:nvSpPr>
          <p:cNvPr id="4" name="Text 2"/>
          <p:cNvSpPr/>
          <p:nvPr/>
        </p:nvSpPr>
        <p:spPr>
          <a:xfrm>
            <a:off x="812800" y="2301239"/>
            <a:ext cx="38134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D0"/>
                </a:solidFill>
                <a:latin typeface="DM Sans" pitchFamily="34" charset="0"/>
                <a:ea typeface="DM Sans" pitchFamily="34" charset="-122"/>
                <a:cs typeface="DM Sans" pitchFamily="34" charset="-120"/>
              </a:rPr>
              <a:t>MAE skill at 6 h, interval +11.9 % to +26.8 %</a:t>
            </a:r>
            <a:endParaRPr lang="en-US" sz="1400" dirty="0"/>
          </a:p>
        </p:txBody>
      </p:sp>
      <p:sp>
        <p:nvSpPr>
          <p:cNvPr id="5" name="Text 3"/>
          <p:cNvSpPr/>
          <p:nvPr/>
        </p:nvSpPr>
        <p:spPr>
          <a:xfrm>
            <a:off x="4626292" y="1619250"/>
            <a:ext cx="695549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1"/>
                </a:solidFill>
                <a:latin typeface="DM Sans" pitchFamily="34" charset="0"/>
                <a:ea typeface="DM Sans" pitchFamily="34" charset="-122"/>
                <a:cs typeface="DM Sans" pitchFamily="34" charset="-120"/>
              </a:rPr>
              <a:t>8.84 against 10.97 µg/m³. Tuning improved cross-validation error, but not reliably the test error: at 3 h the untuned model scored 7.69 on test against 8.28 tuned.</a:t>
            </a:r>
            <a:endParaRPr lang="en-US" sz="1500" dirty="0"/>
          </a:p>
        </p:txBody>
      </p:sp>
      <p:sp>
        <p:nvSpPr>
          <p:cNvPr id="6" name="Shape 4"/>
          <p:cNvSpPr/>
          <p:nvPr/>
        </p:nvSpPr>
        <p:spPr>
          <a:xfrm>
            <a:off x="2127250" y="2778761"/>
            <a:ext cx="7937500" cy="2984500"/>
          </a:xfrm>
          <a:prstGeom prst="roundRect">
            <a:avLst>
              <a:gd name="adj" fmla="val 2553"/>
            </a:avLst>
          </a:prstGeom>
          <a:solidFill>
            <a:srgbClr val="FCFCFB"/>
          </a:solidFill>
          <a:ln/>
        </p:spPr>
      </p:sp>
      <p:pic>
        <p:nvPicPr>
          <p:cNvPr id="7" name="Image 0" descr="Test MAE of persistence and of default and tuned ElasticNet and HistGB models at 1, 3 and 6 hours">    </p:cNvPr>
          <p:cNvPicPr>
            <a:picLocks noChangeAspect="1"/>
          </p:cNvPicPr>
          <p:nvPr/>
        </p:nvPicPr>
        <p:blipFill>
          <a:blip r:embed="rId1"/>
          <a:srcRect l="-50" r="-50" t="0" b="0"/>
          <a:stretch/>
        </p:blipFill>
        <p:spPr>
          <a:xfrm>
            <a:off x="2127250" y="2778761"/>
            <a:ext cx="7937500" cy="2984500"/>
          </a:xfrm>
          <a:prstGeom prst="roundRect">
            <a:avLst>
              <a:gd name="adj" fmla="val 2553"/>
            </a:avLst>
          </a:prstGeom>
        </p:spPr>
      </p:pic>
      <p:sp>
        <p:nvSpPr>
          <p:cNvPr id="8" name="Text 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0"/>
                </a:solidFill>
                <a:latin typeface="DM Sans" pitchFamily="34" charset="0"/>
                <a:ea typeface="DM Sans" pitchFamily="34" charset="-122"/>
                <a:cs typeface="DM Sans" pitchFamily="34" charset="-120"/>
              </a:rPr>
              <a:t>Figure: test MAE by horizon, default versus tuned (▼ marks the model chosen by cross-validation).</a:t>
            </a:r>
            <a:endParaRPr lang="en-US" sz="1200" dirty="0"/>
          </a:p>
        </p:txBody>
      </p:sp>
      <p:sp>
        <p:nvSpPr>
          <p:cNvPr id="9" name="Text 6"/>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D0"/>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845926"/>
          </a:xfrm>
          <a:prstGeom prst="rect">
            <a:avLst/>
          </a:prstGeom>
          <a:noFill/>
          <a:ln/>
        </p:spPr>
        <p:txBody>
          <a:bodyPr wrap="square" lIns="0" tIns="0" rIns="0" bIns="0" rtlCol="0" anchor="t">
            <a:normAutofit/>
          </a:bodyPr>
          <a:lstStyle/>
          <a:p>
            <a:pPr algn="l" indent="0" marL="0">
              <a:lnSpc>
                <a:spcPts val="3509"/>
              </a:lnSpc>
              <a:buNone/>
            </a:pPr>
            <a:r>
              <a:rPr lang="en-US" sz="3190" b="1" i="0" dirty="0">
                <a:solidFill>
                  <a:srgbClr val="12202F"/>
                </a:solidFill>
                <a:latin typeface="DM Sans" pitchFamily="34" charset="0"/>
                <a:ea typeface="DM Sans" pitchFamily="34" charset="-122"/>
                <a:cs typeface="DM Sans" pitchFamily="34" charset="-120"/>
              </a:rPr>
              <a:t>Wind and lagged weather add little dependable value</a:t>
            </a:r>
            <a:endParaRPr lang="en-US" sz="3190" dirty="0"/>
          </a:p>
        </p:txBody>
      </p:sp>
      <p:sp>
        <p:nvSpPr>
          <p:cNvPr id="3" name="Shape 1"/>
          <p:cNvSpPr/>
          <p:nvPr/>
        </p:nvSpPr>
        <p:spPr>
          <a:xfrm>
            <a:off x="815975" y="1865102"/>
            <a:ext cx="5175250" cy="1354984"/>
          </a:xfrm>
          <a:prstGeom prst="roundRect">
            <a:avLst>
              <a:gd name="adj" fmla="val 7264"/>
            </a:avLst>
          </a:prstGeom>
          <a:solidFill>
            <a:srgbClr val="FDFCFA"/>
          </a:solidFill>
          <a:ln w="6350">
            <a:solidFill>
              <a:srgbClr val="DCD9D1"/>
            </a:solidFill>
            <a:prstDash val="solid"/>
          </a:ln>
        </p:spPr>
      </p:sp>
      <p:sp>
        <p:nvSpPr>
          <p:cNvPr id="4" name="Text 2"/>
          <p:cNvSpPr/>
          <p:nvPr/>
        </p:nvSpPr>
        <p:spPr>
          <a:xfrm>
            <a:off x="1021080" y="2070205"/>
            <a:ext cx="4907991" cy="239183"/>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1F63B8"/>
                </a:solidFill>
                <a:latin typeface="DM Sans" pitchFamily="34" charset="0"/>
                <a:ea typeface="DM Sans" pitchFamily="34" charset="-122"/>
                <a:cs typeface="DM Sans" pitchFamily="34" charset="-120"/>
              </a:rPr>
              <a:t>Raw pattern, not a forecast gain</a:t>
            </a:r>
            <a:endParaRPr lang="en-US" sz="1435" dirty="0"/>
          </a:p>
        </p:txBody>
      </p:sp>
      <p:sp>
        <p:nvSpPr>
          <p:cNvPr id="5" name="Text 3"/>
          <p:cNvSpPr/>
          <p:nvPr/>
        </p:nvSpPr>
        <p:spPr>
          <a:xfrm>
            <a:off x="1021080" y="2360188"/>
            <a:ext cx="4907991" cy="680191"/>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12202F"/>
                </a:solidFill>
                <a:latin typeface="DM Sans" pitchFamily="34" charset="0"/>
                <a:ea typeface="DM Sans" pitchFamily="34" charset="-122"/>
                <a:cs typeface="DM Sans" pitchFamily="34" charset="-120"/>
              </a:rPr>
              <a:t>Median PM2.5 differs by 18 µg/m³ between wind sectors (SE highest, W lowest), but this is tangled with time of year.</a:t>
            </a:r>
            <a:endParaRPr lang="en-US" sz="1374" dirty="0"/>
          </a:p>
        </p:txBody>
      </p:sp>
      <p:sp>
        <p:nvSpPr>
          <p:cNvPr id="6" name="Shape 4"/>
          <p:cNvSpPr/>
          <p:nvPr/>
        </p:nvSpPr>
        <p:spPr>
          <a:xfrm>
            <a:off x="6200775" y="1865102"/>
            <a:ext cx="5175250" cy="1354984"/>
          </a:xfrm>
          <a:prstGeom prst="roundRect">
            <a:avLst>
              <a:gd name="adj" fmla="val 7264"/>
            </a:avLst>
          </a:prstGeom>
          <a:solidFill>
            <a:srgbClr val="FDFCFA"/>
          </a:solidFill>
          <a:ln w="6350">
            <a:solidFill>
              <a:srgbClr val="DCD9D1"/>
            </a:solidFill>
            <a:prstDash val="solid"/>
          </a:ln>
        </p:spPr>
      </p:sp>
      <p:sp>
        <p:nvSpPr>
          <p:cNvPr id="7" name="Text 5"/>
          <p:cNvSpPr/>
          <p:nvPr/>
        </p:nvSpPr>
        <p:spPr>
          <a:xfrm>
            <a:off x="6405880" y="2070205"/>
            <a:ext cx="4907991" cy="239183"/>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1F63B8"/>
                </a:solidFill>
                <a:latin typeface="DM Sans" pitchFamily="34" charset="0"/>
                <a:ea typeface="DM Sans" pitchFamily="34" charset="-122"/>
                <a:cs typeface="DM Sans" pitchFamily="34" charset="-120"/>
              </a:rPr>
              <a:t>After history is known</a:t>
            </a:r>
            <a:endParaRPr lang="en-US" sz="1435" dirty="0"/>
          </a:p>
        </p:txBody>
      </p:sp>
      <p:sp>
        <p:nvSpPr>
          <p:cNvPr id="8" name="Text 6"/>
          <p:cNvSpPr/>
          <p:nvPr/>
        </p:nvSpPr>
        <p:spPr>
          <a:xfrm>
            <a:off x="6405880" y="2360188"/>
            <a:ext cx="4907991" cy="680191"/>
          </a:xfrm>
          <a:prstGeom prst="rect">
            <a:avLst/>
          </a:prstGeom>
          <a:noFill/>
          <a:ln/>
        </p:spPr>
        <p:txBody>
          <a:bodyPr wrap="square" lIns="0" tIns="0" rIns="0" bIns="0" rtlCol="0" anchor="t">
            <a:normAutofit/>
          </a:bodyPr>
          <a:lstStyle/>
          <a:p>
            <a:pPr algn="l" indent="0" marL="0">
              <a:lnSpc>
                <a:spcPts val="1844"/>
              </a:lnSpc>
              <a:buNone/>
            </a:pPr>
            <a:r>
              <a:rPr lang="en-US" sz="1317" dirty="0">
                <a:solidFill>
                  <a:srgbClr val="12202F"/>
                </a:solidFill>
                <a:latin typeface="DM Sans" pitchFamily="34" charset="0"/>
                <a:ea typeface="DM Sans" pitchFamily="34" charset="-122"/>
                <a:cs typeface="DM Sans" pitchFamily="34" charset="-120"/>
              </a:rPr>
              <a:t>Adding wind or lagged weather never met our rule: lower error on validation and test, with an interval that excludes zero.</a:t>
            </a:r>
            <a:endParaRPr lang="en-US" sz="1317" dirty="0"/>
          </a:p>
        </p:txBody>
      </p:sp>
      <p:sp>
        <p:nvSpPr>
          <p:cNvPr id="9" name="Shape 7"/>
          <p:cNvSpPr/>
          <p:nvPr/>
        </p:nvSpPr>
        <p:spPr>
          <a:xfrm>
            <a:off x="2127250" y="3451861"/>
            <a:ext cx="7937500" cy="2390140"/>
          </a:xfrm>
          <a:prstGeom prst="roundRect">
            <a:avLst>
              <a:gd name="adj" fmla="val 3188"/>
            </a:avLst>
          </a:prstGeom>
          <a:solidFill>
            <a:srgbClr val="FCFCFB"/>
          </a:solidFill>
          <a:ln/>
        </p:spPr>
      </p:sp>
      <p:pic>
        <p:nvPicPr>
          <p:cNvPr id="10" name="Image 0" descr="Feature ablation: validation and test MAE for history only, plus wind, and plus lagged weather, against persistence">    </p:cNvPr>
          <p:cNvPicPr>
            <a:picLocks noChangeAspect="1"/>
          </p:cNvPicPr>
          <p:nvPr/>
        </p:nvPicPr>
        <p:blipFill>
          <a:blip r:embed="rId1"/>
          <a:stretch>
            <a:fillRect/>
          </a:stretch>
        </p:blipFill>
        <p:spPr>
          <a:xfrm>
            <a:off x="2470912" y="3458211"/>
            <a:ext cx="7250176" cy="2377440"/>
          </a:xfrm>
          <a:prstGeom prst="rect">
            <a:avLst/>
          </a:prstGeom>
        </p:spPr>
      </p:pic>
      <p:sp>
        <p:nvSpPr>
          <p:cNvPr id="11" name="Shape 8"/>
          <p:cNvSpPr/>
          <p:nvPr/>
        </p:nvSpPr>
        <p:spPr>
          <a:xfrm>
            <a:off x="2130425" y="3455036"/>
            <a:ext cx="7931150" cy="2383790"/>
          </a:xfrm>
          <a:prstGeom prst="roundRect">
            <a:avLst>
              <a:gd name="adj" fmla="val 3063"/>
            </a:avLst>
          </a:prstGeom>
          <a:noFill/>
          <a:ln w="6350">
            <a:solidFill>
              <a:srgbClr val="DCD9D1"/>
            </a:solidFill>
            <a:prstDash val="solid"/>
          </a:ln>
        </p:spPr>
      </p:sp>
      <p:sp>
        <p:nvSpPr>
          <p:cNvPr id="12" name="Text 9"/>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Figure: feature ablation. Importance and coefficients describe association, not causation.</a:t>
            </a:r>
            <a:endParaRPr lang="en-US" sz="1200" dirty="0"/>
          </a:p>
        </p:txBody>
      </p:sp>
      <p:sp>
        <p:nvSpPr>
          <p:cNvPr id="13" name="Text 1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DM Sans" pitchFamily="34" charset="0"/>
                <a:ea typeface="DM Sans" pitchFamily="34" charset="-122"/>
                <a:cs typeface="DM Sans" pitchFamily="34" charset="-120"/>
              </a:rPr>
              <a:t>Errors are five to eight times larger when PM2.5 is high</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971039"/>
          <a:ext cx="10556240" cy="1854200"/>
        </p:xfrm>
        <a:graphic>
          <a:graphicData uri="http://schemas.openxmlformats.org/drawingml/2006/table">
            <a:tbl>
              <a:tblPr/>
              <a:tblGrid>
                <a:gridCol w="1688998"/>
                <a:gridCol w="2533498"/>
                <a:gridCol w="3166872"/>
                <a:gridCol w="3166872"/>
              </a:tblGrid>
              <a:tr h="463550">
                <a:tc>
                  <a:txBody>
                    <a:bodyPr/>
                    <a:lstStyle/>
                    <a:p>
                      <a:pPr indent="0" marL="0">
                        <a:lnSpc>
                          <a:spcPts val="2380"/>
                        </a:lnSpc>
                        <a:buNone/>
                      </a:pPr>
                      <a:r>
                        <a:rPr lang="en-US" sz="1700" b="1" dirty="0">
                          <a:solidFill>
                            <a:srgbClr val="12202F"/>
                          </a:solidFill>
                          <a:latin typeface="DM Sans" pitchFamily="34" charset="0"/>
                          <a:ea typeface="DM Sans" pitchFamily="34" charset="-122"/>
                          <a:cs typeface="DM Sans" pitchFamily="34" charset="-120"/>
                        </a:rPr>
                        <a:t>Horizon</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2380"/>
                        </a:lnSpc>
                        <a:buNone/>
                      </a:pPr>
                      <a:r>
                        <a:rPr lang="en-US" sz="1700" b="1" dirty="0">
                          <a:solidFill>
                            <a:srgbClr val="12202F"/>
                          </a:solidFill>
                          <a:latin typeface="DM Sans" pitchFamily="34" charset="0"/>
                          <a:ea typeface="DM Sans" pitchFamily="34" charset="-122"/>
                          <a:cs typeface="DM Sans" pitchFamily="34" charset="-120"/>
                        </a:rPr>
                        <a:t>High hours (&gt; 55)</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2380"/>
                        </a:lnSpc>
                        <a:buNone/>
                      </a:pPr>
                      <a:r>
                        <a:rPr lang="en-US" sz="1700" b="1" dirty="0">
                          <a:solidFill>
                            <a:srgbClr val="12202F"/>
                          </a:solidFill>
                          <a:latin typeface="DM Sans" pitchFamily="34" charset="0"/>
                          <a:ea typeface="DM Sans" pitchFamily="34" charset="-122"/>
                          <a:cs typeface="DM Sans" pitchFamily="34" charset="-120"/>
                        </a:rPr>
                        <a:t>MAE on high hours</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2380"/>
                        </a:lnSpc>
                        <a:buNone/>
                      </a:pPr>
                      <a:r>
                        <a:rPr lang="en-US" sz="1700" b="1" dirty="0">
                          <a:solidFill>
                            <a:srgbClr val="12202F"/>
                          </a:solidFill>
                          <a:latin typeface="DM Sans" pitchFamily="34" charset="0"/>
                          <a:ea typeface="DM Sans" pitchFamily="34" charset="-122"/>
                          <a:cs typeface="DM Sans" pitchFamily="34" charset="-120"/>
                        </a:rPr>
                        <a:t>MAE on other hours</a:t>
                      </a:r>
                      <a:endParaRPr lang="en-US" sz="1700" dirty="0">
                        <a:latin typeface="DM Sans" charset="0"/>
                        <a:ea typeface="DM Sans" charset="0"/>
                        <a:cs typeface="DM Sans" charset="0"/>
                      </a:endParaRPr>
                    </a:p>
                  </a:txBody>
                  <a:tcPr marL="75565" marR="75565" marT="75565" marB="7556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63550">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1 h</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16</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31.6</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4.2</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63550">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3 h</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16</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35.2</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7.2</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63550">
                <a:tc>
                  <a:txBody>
                    <a:bodyPr/>
                    <a:lstStyle/>
                    <a:p>
                      <a:pPr indent="0" marL="0">
                        <a:lnSpc>
                          <a:spcPts val="2380"/>
                        </a:lnSpc>
                        <a:buNone/>
                      </a:pPr>
                      <a:r>
                        <a:rPr lang="en-US" sz="1700" dirty="0">
                          <a:solidFill>
                            <a:srgbClr val="12202F"/>
                          </a:solidFill>
                          <a:latin typeface="DM Sans" pitchFamily="34" charset="0"/>
                          <a:ea typeface="DM Sans" pitchFamily="34" charset="-122"/>
                          <a:cs typeface="DM Sans" pitchFamily="34" charset="-120"/>
                        </a:rPr>
                        <a:t>6 h</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15</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40.8</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2380"/>
                        </a:lnSpc>
                        <a:buNone/>
                      </a:pPr>
                      <a:r>
                        <a:rPr lang="en-US" sz="1700" dirty="0">
                          <a:solidFill>
                            <a:srgbClr val="12202F"/>
                          </a:solidFill>
                          <a:latin typeface="DM Sans" pitchFamily="34" charset="0"/>
                          <a:ea typeface="DM Sans" pitchFamily="34" charset="-122"/>
                          <a:cs typeface="DM Sans" pitchFamily="34" charset="-120"/>
                        </a:rPr>
                        <a:t>7.6</a:t>
                      </a:r>
                      <a:endParaRPr lang="en-US" sz="1700" dirty="0">
                        <a:latin typeface="DM Sans" charset="0"/>
                        <a:ea typeface="DM Sans" charset="0"/>
                        <a:cs typeface="DM Sans" charset="0"/>
                      </a:endParaRPr>
                    </a:p>
                  </a:txBody>
                  <a:tcPr marL="75565" marR="75565" marT="75565" marB="7556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4079242"/>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202F"/>
                </a:solidFill>
                <a:latin typeface="DM Sans" pitchFamily="34" charset="0"/>
                <a:ea typeface="DM Sans" pitchFamily="34" charset="-122"/>
                <a:cs typeface="DM Sans" pitchFamily="34" charset="-120"/>
              </a:rPr>
              <a:t>Only about 16 test hours exceed 55 µg/m³, far too few to judge spike detection. The level also drifted: mean PM2.5 was 17.5 in training, 27.8 in validation and 35.4 in test.</a:t>
            </a:r>
            <a:endParaRPr lang="en-US" sz="1500" dirty="0"/>
          </a:p>
        </p:txBody>
      </p:sp>
      <p:sp>
        <p:nvSpPr>
          <p:cNvPr id="5" name="Text 2"/>
          <p:cNvSpPr/>
          <p:nvPr/>
        </p:nvSpPr>
        <p:spPr>
          <a:xfrm>
            <a:off x="812800" y="48666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91A"/>
                </a:solidFill>
                <a:latin typeface="DM Sans" pitchFamily="34" charset="0"/>
                <a:ea typeface="DM Sans" pitchFamily="34" charset="-122"/>
                <a:cs typeface="DM Sans" pitchFamily="34" charset="-120"/>
              </a:rPr>
              <a:t>So the forecasts must not trigger health or operational alerts.</a:t>
            </a:r>
            <a:endParaRPr lang="en-US" sz="1500" dirty="0"/>
          </a:p>
        </p:txBody>
      </p:sp>
      <p:sp>
        <p:nvSpPr>
          <p:cNvPr id="6" name="Text 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MAE in µg/m³, final models on the test period (13 to 31 August 2026).</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0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DM Sans" pitchFamily="34" charset="0"/>
                <a:ea typeface="DM Sans" pitchFamily="34" charset="-122"/>
                <a:cs typeface="DM Sans" pitchFamily="34" charset="-120"/>
              </a:rPr>
              <a:t>What the evidence says government should do next</a:t>
            </a:r>
            <a:endParaRPr lang="en-US" sz="3200" dirty="0"/>
          </a:p>
        </p:txBody>
      </p:sp>
      <p:sp>
        <p:nvSpPr>
          <p:cNvPr id="3" name="Shape 1"/>
          <p:cNvSpPr/>
          <p:nvPr/>
        </p:nvSpPr>
        <p:spPr>
          <a:xfrm>
            <a:off x="812800" y="1539242"/>
            <a:ext cx="3386667" cy="3622040"/>
          </a:xfrm>
          <a:prstGeom prst="roundRect">
            <a:avLst>
              <a:gd name="adj" fmla="val 3000"/>
            </a:avLst>
          </a:prstGeom>
          <a:solidFill>
            <a:srgbClr val="1B2F44"/>
          </a:solidFill>
          <a:ln/>
        </p:spPr>
      </p:sp>
      <p:sp>
        <p:nvSpPr>
          <p:cNvPr id="4" name="Text 2"/>
          <p:cNvSpPr/>
          <p:nvPr/>
        </p:nvSpPr>
        <p:spPr>
          <a:xfrm>
            <a:off x="1041400" y="1767842"/>
            <a:ext cx="301735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FA8EE"/>
                </a:solidFill>
                <a:latin typeface="DM Sans" pitchFamily="34" charset="0"/>
                <a:ea typeface="DM Sans" pitchFamily="34" charset="-122"/>
                <a:cs typeface="DM Sans" pitchFamily="34" charset="-120"/>
              </a:rPr>
              <a:t>1 · Fund the data, not a complex model</a:t>
            </a:r>
            <a:endParaRPr lang="en-US" sz="1400" dirty="0"/>
          </a:p>
        </p:txBody>
      </p:sp>
      <p:sp>
        <p:nvSpPr>
          <p:cNvPr id="5" name="Text 3"/>
          <p:cNvSpPr/>
          <p:nvPr/>
        </p:nvSpPr>
        <p:spPr>
          <a:xfrm>
            <a:off x="1041400" y="2354579"/>
            <a:ext cx="3017351" cy="10210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Evidence:</a:t>
            </a:r>
            <a:r>
              <a:rPr lang="en-US" sz="1400" dirty="0">
                <a:solidFill>
                  <a:srgbClr val="F6F5F1"/>
                </a:solidFill>
                <a:latin typeface="DM Sans" pitchFamily="34" charset="0"/>
                <a:ea typeface="DM Sans" pitchFamily="34" charset="-122"/>
                <a:cs typeface="DM Sans" pitchFamily="34" charset="-120"/>
              </a:rPr>
              <a:t> the latest reading is already hard to beat for 3 hours, and wind and daily weather added nothing.</a:t>
            </a:r>
            <a:endParaRPr lang="en-US" sz="1400" dirty="0"/>
          </a:p>
        </p:txBody>
      </p:sp>
      <p:sp>
        <p:nvSpPr>
          <p:cNvPr id="6" name="Text 4"/>
          <p:cNvSpPr/>
          <p:nvPr/>
        </p:nvSpPr>
        <p:spPr>
          <a:xfrm>
            <a:off x="1041400" y="3439158"/>
            <a:ext cx="3017351" cy="15189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Action:</a:t>
            </a:r>
            <a:r>
              <a:rPr lang="en-US" sz="1400" dirty="0">
                <a:solidFill>
                  <a:srgbClr val="F6F5F1"/>
                </a:solidFill>
                <a:latin typeface="DM Sans" pitchFamily="34" charset="0"/>
                <a:ea typeface="DM Sans" pitchFamily="34" charset="-122"/>
                <a:cs typeface="DM Sans" pitchFamily="34" charset="-120"/>
              </a:rPr>
              <a:t> NEA and the weather service prioritise sensor uptime (outages reached 17 days), calibration against reference monitors, and co-located hourly wind speed and direction.</a:t>
            </a:r>
            <a:endParaRPr lang="en-US" sz="1400" dirty="0"/>
          </a:p>
        </p:txBody>
      </p:sp>
      <p:sp>
        <p:nvSpPr>
          <p:cNvPr id="7" name="Shape 5"/>
          <p:cNvSpPr/>
          <p:nvPr/>
        </p:nvSpPr>
        <p:spPr>
          <a:xfrm>
            <a:off x="4402667" y="1539242"/>
            <a:ext cx="3386667" cy="3622040"/>
          </a:xfrm>
          <a:prstGeom prst="roundRect">
            <a:avLst>
              <a:gd name="adj" fmla="val 3000"/>
            </a:avLst>
          </a:prstGeom>
          <a:solidFill>
            <a:srgbClr val="1B2F44"/>
          </a:solidFill>
          <a:ln/>
        </p:spPr>
      </p:sp>
      <p:sp>
        <p:nvSpPr>
          <p:cNvPr id="8" name="Text 6"/>
          <p:cNvSpPr/>
          <p:nvPr/>
        </p:nvSpPr>
        <p:spPr>
          <a:xfrm>
            <a:off x="4631267" y="1767842"/>
            <a:ext cx="301735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FA8EE"/>
                </a:solidFill>
                <a:latin typeface="DM Sans" pitchFamily="34" charset="0"/>
                <a:ea typeface="DM Sans" pitchFamily="34" charset="-122"/>
                <a:cs typeface="DM Sans" pitchFamily="34" charset="-120"/>
              </a:rPr>
              <a:t>2 · Pilot the 6-hour outlook, do not deploy it</a:t>
            </a:r>
            <a:endParaRPr lang="en-US" sz="1400" dirty="0"/>
          </a:p>
        </p:txBody>
      </p:sp>
      <p:sp>
        <p:nvSpPr>
          <p:cNvPr id="9" name="Text 7"/>
          <p:cNvSpPr/>
          <p:nvPr/>
        </p:nvSpPr>
        <p:spPr>
          <a:xfrm>
            <a:off x="4631267" y="2354579"/>
            <a:ext cx="3017351" cy="10210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Evidence:</a:t>
            </a:r>
            <a:r>
              <a:rPr lang="en-US" sz="1400" dirty="0">
                <a:solidFill>
                  <a:srgbClr val="F6F5F1"/>
                </a:solidFill>
                <a:latin typeface="DM Sans" pitchFamily="34" charset="0"/>
                <a:ea typeface="DM Sans" pitchFamily="34" charset="-122"/>
                <a:cs typeface="DM Sans" pitchFamily="34" charset="-120"/>
              </a:rPr>
              <a:t> about 20 % lower error than the latest reading at 6 hours, on one sensor and one month of test data.</a:t>
            </a:r>
            <a:endParaRPr lang="en-US" sz="1400" dirty="0"/>
          </a:p>
        </p:txBody>
      </p:sp>
      <p:sp>
        <p:nvSpPr>
          <p:cNvPr id="10" name="Text 8"/>
          <p:cNvSpPr/>
          <p:nvPr/>
        </p:nvSpPr>
        <p:spPr>
          <a:xfrm>
            <a:off x="4631267" y="3439158"/>
            <a:ext cx="3017351" cy="15189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Action:</a:t>
            </a:r>
            <a:r>
              <a:rPr lang="en-US" sz="1400" dirty="0">
                <a:solidFill>
                  <a:srgbClr val="F6F5F1"/>
                </a:solidFill>
                <a:latin typeface="DM Sans" pitchFamily="34" charset="0"/>
                <a:ea typeface="DM Sans" pitchFamily="34" charset="-122"/>
                <a:cs typeface="DM Sans" pitchFamily="34" charset="-120"/>
              </a:rPr>
              <a:t> run it internally in shadow mode at a few sensors through the haze season, compare weekly with the latest reading, and set a go or no-go criterion before any public use.</a:t>
            </a:r>
            <a:endParaRPr lang="en-US" sz="1400" dirty="0"/>
          </a:p>
        </p:txBody>
      </p:sp>
      <p:sp>
        <p:nvSpPr>
          <p:cNvPr id="11" name="Shape 9"/>
          <p:cNvSpPr/>
          <p:nvPr/>
        </p:nvSpPr>
        <p:spPr>
          <a:xfrm>
            <a:off x="7992533" y="1539242"/>
            <a:ext cx="3386667" cy="3622040"/>
          </a:xfrm>
          <a:prstGeom prst="roundRect">
            <a:avLst>
              <a:gd name="adj" fmla="val 3000"/>
            </a:avLst>
          </a:prstGeom>
          <a:solidFill>
            <a:srgbClr val="1B2F44"/>
          </a:solidFill>
          <a:ln/>
        </p:spPr>
      </p:sp>
      <p:sp>
        <p:nvSpPr>
          <p:cNvPr id="12" name="Text 10"/>
          <p:cNvSpPr/>
          <p:nvPr/>
        </p:nvSpPr>
        <p:spPr>
          <a:xfrm>
            <a:off x="8221133" y="1767842"/>
            <a:ext cx="315806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FA8EE"/>
                </a:solidFill>
                <a:latin typeface="DM Sans" pitchFamily="34" charset="0"/>
                <a:ea typeface="DM Sans" pitchFamily="34" charset="-122"/>
                <a:cs typeface="DM Sans" pitchFamily="34" charset="-120"/>
              </a:rPr>
              <a:t>3 · Keep people in charge of alerts</a:t>
            </a:r>
            <a:endParaRPr lang="en-US" sz="1400" dirty="0"/>
          </a:p>
        </p:txBody>
      </p:sp>
      <p:sp>
        <p:nvSpPr>
          <p:cNvPr id="13" name="Text 11"/>
          <p:cNvSpPr/>
          <p:nvPr/>
        </p:nvSpPr>
        <p:spPr>
          <a:xfrm>
            <a:off x="8221133" y="2105658"/>
            <a:ext cx="3017351"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Evidence:</a:t>
            </a:r>
            <a:r>
              <a:rPr lang="en-US" sz="1400" dirty="0">
                <a:solidFill>
                  <a:srgbClr val="F6F5F1"/>
                </a:solidFill>
                <a:latin typeface="DM Sans" pitchFamily="34" charset="0"/>
                <a:ea typeface="DM Sans" pitchFamily="34" charset="-122"/>
                <a:cs typeface="DM Sans" pitchFamily="34" charset="-120"/>
              </a:rPr>
              <a:t> errors are 5 to 8 times larger when PM2.5 is high, from only about 16 high hours.</a:t>
            </a:r>
            <a:endParaRPr lang="en-US" sz="1400" dirty="0"/>
          </a:p>
        </p:txBody>
      </p:sp>
      <p:sp>
        <p:nvSpPr>
          <p:cNvPr id="14" name="Text 12"/>
          <p:cNvSpPr/>
          <p:nvPr/>
        </p:nvSpPr>
        <p:spPr>
          <a:xfrm>
            <a:off x="8221133" y="2941321"/>
            <a:ext cx="3017351" cy="12700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Action:</a:t>
            </a:r>
            <a:r>
              <a:rPr lang="en-US" sz="1400" dirty="0">
                <a:solidFill>
                  <a:srgbClr val="F6F5F1"/>
                </a:solidFill>
                <a:latin typeface="DM Sans" pitchFamily="34" charset="0"/>
                <a:ea typeface="DM Sans" pitchFamily="34" charset="-122"/>
                <a:cs typeface="DM Sans" pitchFamily="34" charset="-120"/>
              </a:rPr>
              <a:t> official alerts stay with reference-grade monitoring and expert judgement. Collect haze-episode data first; evaluate spike detection before any automation.</a:t>
            </a:r>
            <a:endParaRPr lang="en-US" sz="1400" dirty="0"/>
          </a:p>
        </p:txBody>
      </p:sp>
      <p:sp>
        <p:nvSpPr>
          <p:cNvPr id="15" name="Text 1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0"/>
                </a:solidFill>
                <a:latin typeface="DM Sans" pitchFamily="34" charset="0"/>
                <a:ea typeface="DM Sans" pitchFamily="34" charset="-122"/>
                <a:cs typeface="DM Sans" pitchFamily="34" charset="-120"/>
              </a:rPr>
              <a:t>Each recommendation follows from a finding on slides 5 to 8.</a:t>
            </a:r>
            <a:endParaRPr lang="en-US" sz="1200" dirty="0"/>
          </a:p>
        </p:txBody>
      </p:sp>
      <p:sp>
        <p:nvSpPr>
          <p:cNvPr id="16"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D0"/>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DM Sans" pitchFamily="34" charset="0"/>
                <a:ea typeface="DM Sans" pitchFamily="34" charset="-122"/>
                <a:cs typeface="DM Sans" pitchFamily="34" charset="-120"/>
              </a:rPr>
              <a:t>A staged path with clear checkpoints</a:t>
            </a:r>
            <a:endParaRPr lang="en-US" sz="3200" dirty="0"/>
          </a:p>
        </p:txBody>
      </p:sp>
      <p:sp>
        <p:nvSpPr>
          <p:cNvPr id="3" name="Shape 1"/>
          <p:cNvSpPr/>
          <p:nvPr/>
        </p:nvSpPr>
        <p:spPr>
          <a:xfrm>
            <a:off x="815975" y="1542417"/>
            <a:ext cx="3380317" cy="1804670"/>
          </a:xfrm>
          <a:prstGeom prst="roundRect">
            <a:avLst>
              <a:gd name="adj" fmla="val 5454"/>
            </a:avLst>
          </a:prstGeom>
          <a:solidFill>
            <a:srgbClr val="FDFCFA"/>
          </a:solidFill>
          <a:ln w="6350">
            <a:solidFill>
              <a:srgbClr val="DCD9D1"/>
            </a:solidFill>
            <a:prstDash val="solid"/>
          </a:ln>
        </p:spPr>
      </p:sp>
      <p:sp>
        <p:nvSpPr>
          <p:cNvPr id="4" name="Text 2"/>
          <p:cNvSpPr/>
          <p:nvPr/>
        </p:nvSpPr>
        <p:spPr>
          <a:xfrm>
            <a:off x="1046480" y="1772921"/>
            <a:ext cx="3006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Now to 3 months</a:t>
            </a:r>
            <a:endParaRPr lang="en-US" sz="1700" dirty="0"/>
          </a:p>
        </p:txBody>
      </p:sp>
      <p:sp>
        <p:nvSpPr>
          <p:cNvPr id="5" name="Text 3"/>
          <p:cNvSpPr/>
          <p:nvPr/>
        </p:nvSpPr>
        <p:spPr>
          <a:xfrm>
            <a:off x="1046480" y="2120900"/>
            <a:ext cx="300688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Fix the data base: sensor uptime and freshness checks, calibration against reference monitors, hourly wind from a known, nearby station.</a:t>
            </a:r>
            <a:endParaRPr lang="en-US" sz="1400" dirty="0"/>
          </a:p>
        </p:txBody>
      </p:sp>
      <p:sp>
        <p:nvSpPr>
          <p:cNvPr id="6" name="Shape 4"/>
          <p:cNvSpPr/>
          <p:nvPr/>
        </p:nvSpPr>
        <p:spPr>
          <a:xfrm>
            <a:off x="4405842" y="1542417"/>
            <a:ext cx="3380317" cy="1804670"/>
          </a:xfrm>
          <a:prstGeom prst="roundRect">
            <a:avLst>
              <a:gd name="adj" fmla="val 5454"/>
            </a:avLst>
          </a:prstGeom>
          <a:solidFill>
            <a:srgbClr val="FDFCFA"/>
          </a:solidFill>
          <a:ln w="6350">
            <a:solidFill>
              <a:srgbClr val="DCD9D1"/>
            </a:solidFill>
            <a:prstDash val="solid"/>
          </a:ln>
        </p:spPr>
      </p:sp>
      <p:sp>
        <p:nvSpPr>
          <p:cNvPr id="7" name="Text 5"/>
          <p:cNvSpPr/>
          <p:nvPr/>
        </p:nvSpPr>
        <p:spPr>
          <a:xfrm>
            <a:off x="4636346" y="1772921"/>
            <a:ext cx="3006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Haze season</a:t>
            </a:r>
            <a:endParaRPr lang="en-US" sz="1700" dirty="0"/>
          </a:p>
        </p:txBody>
      </p:sp>
      <p:sp>
        <p:nvSpPr>
          <p:cNvPr id="8" name="Text 6"/>
          <p:cNvSpPr/>
          <p:nvPr/>
        </p:nvSpPr>
        <p:spPr>
          <a:xfrm>
            <a:off x="4636346" y="2120900"/>
            <a:ext cx="300688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Run the 6-hour outlook in shadow mode at a few sensors, with monthly retraining. Review weekly error against the latest reading.</a:t>
            </a:r>
            <a:endParaRPr lang="en-US" sz="1400" dirty="0"/>
          </a:p>
        </p:txBody>
      </p:sp>
      <p:sp>
        <p:nvSpPr>
          <p:cNvPr id="9" name="Shape 7"/>
          <p:cNvSpPr/>
          <p:nvPr/>
        </p:nvSpPr>
        <p:spPr>
          <a:xfrm>
            <a:off x="7995708" y="1542417"/>
            <a:ext cx="3380317" cy="1804670"/>
          </a:xfrm>
          <a:prstGeom prst="roundRect">
            <a:avLst>
              <a:gd name="adj" fmla="val 5454"/>
            </a:avLst>
          </a:prstGeom>
          <a:solidFill>
            <a:srgbClr val="FDFCFA"/>
          </a:solidFill>
          <a:ln w="6350">
            <a:solidFill>
              <a:srgbClr val="DCD9D1"/>
            </a:solidFill>
            <a:prstDash val="solid"/>
          </a:ln>
        </p:spPr>
      </p:sp>
      <p:sp>
        <p:nvSpPr>
          <p:cNvPr id="10" name="Text 8"/>
          <p:cNvSpPr/>
          <p:nvPr/>
        </p:nvSpPr>
        <p:spPr>
          <a:xfrm>
            <a:off x="8226213" y="1772921"/>
            <a:ext cx="3006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3B8"/>
                </a:solidFill>
                <a:latin typeface="DM Sans" pitchFamily="34" charset="0"/>
                <a:ea typeface="DM Sans" pitchFamily="34" charset="-122"/>
                <a:cs typeface="DM Sans" pitchFamily="34" charset="-120"/>
              </a:rPr>
              <a:t>Go or no-go</a:t>
            </a:r>
            <a:endParaRPr lang="en-US" sz="1700" dirty="0"/>
          </a:p>
        </p:txBody>
      </p:sp>
      <p:sp>
        <p:nvSpPr>
          <p:cNvPr id="11" name="Text 9"/>
          <p:cNvSpPr/>
          <p:nvPr/>
        </p:nvSpPr>
        <p:spPr>
          <a:xfrm>
            <a:off x="8226213" y="2120900"/>
            <a:ext cx="300688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DM Sans" pitchFamily="34" charset="0"/>
                <a:ea typeface="DM Sans" pitchFamily="34" charset="-122"/>
                <a:cs typeface="DM Sans" pitchFamily="34" charset="-120"/>
              </a:rPr>
              <a:t>Decide on wider use only if the pilot keeps beating the latest reading, including in high-PM2.5 hours. Otherwise stop at low cost.</a:t>
            </a:r>
            <a:endParaRPr lang="en-US" sz="1400" dirty="0"/>
          </a:p>
        </p:txBody>
      </p:sp>
      <p:sp>
        <p:nvSpPr>
          <p:cNvPr id="12" name="Text 10"/>
          <p:cNvSpPr/>
          <p:nvPr/>
        </p:nvSpPr>
        <p:spPr>
          <a:xfrm>
            <a:off x="812800" y="3629658"/>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02F"/>
                </a:solidFill>
                <a:latin typeface="DM Sans" pitchFamily="34" charset="0"/>
                <a:ea typeface="DM Sans" pitchFamily="34" charset="-122"/>
                <a:cs typeface="DM Sans" pitchFamily="34" charset="-120"/>
              </a:rPr>
              <a:t>Risks to manage:</a:t>
            </a:r>
            <a:r>
              <a:rPr lang="en-US" sz="1500" dirty="0">
                <a:solidFill>
                  <a:srgbClr val="12202F"/>
                </a:solidFill>
                <a:latin typeface="DM Sans" pitchFamily="34" charset="0"/>
                <a:ea typeface="DM Sans" pitchFamily="34" charset="-122"/>
                <a:cs typeface="DM Sans" pitchFamily="34" charset="-120"/>
              </a:rPr>
              <a:t> public over-reliance on a forecast that fails in pollution episodes, low-cost sensor bias, and drift (the mean level doubled across five months). Compute cost is small; the full pipeline runs in about three minutes.</a:t>
            </a:r>
            <a:endParaRPr lang="en-US" sz="15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Short-horizon PM2.5 forecasting · Marine Terrace</a:t>
            </a:r>
            <a:endParaRPr lang="en-US" sz="1200" dirty="0"/>
          </a:p>
        </p:txBody>
      </p:sp>
      <p:sp>
        <p:nvSpPr>
          <p:cNvPr id="14" name="Text 12"/>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DM Sans" pitchFamily="34" charset="0"/>
                <a:ea typeface="DM Sans" pitchFamily="34" charset="-122"/>
                <a:cs typeface="DM Sans" pitchFamily="34" charset="-120"/>
              </a:rPr>
              <a:t>Limitations the panel should weigh</a:t>
            </a:r>
            <a:endParaRPr lang="en-US" sz="3200" dirty="0"/>
          </a:p>
        </p:txBody>
      </p:sp>
      <p:sp>
        <p:nvSpPr>
          <p:cNvPr id="3" name="Text 1"/>
          <p:cNvSpPr/>
          <p:nvPr/>
        </p:nvSpPr>
        <p:spPr>
          <a:xfrm>
            <a:off x="883920" y="1539242"/>
            <a:ext cx="5153660" cy="177038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One low-cost sensor; calibration and humidity can bias readings.</a:t>
            </a:r>
            <a:endParaRPr lang="en-US" sz="1500" dirty="0"/>
          </a:p>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The data do not cover the October haze episode.</a:t>
            </a:r>
            <a:endParaRPr lang="en-US" sz="1500" dirty="0"/>
          </a:p>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A 17-day outage and month-end gaps reduce usable data.</a:t>
            </a:r>
            <a:endParaRPr lang="en-US" sz="1500" dirty="0"/>
          </a:p>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Daily weather is coarse and from another station.</a:t>
            </a:r>
            <a:endParaRPr lang="en-US" sz="1500" dirty="0"/>
          </a:p>
        </p:txBody>
      </p:sp>
      <p:sp>
        <p:nvSpPr>
          <p:cNvPr id="4" name="Text 2"/>
          <p:cNvSpPr/>
          <p:nvPr/>
        </p:nvSpPr>
        <p:spPr>
          <a:xfrm>
            <a:off x="6370320" y="1539242"/>
            <a:ext cx="5153660" cy="177038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The wind station and its distance are unknown.</a:t>
            </a:r>
            <a:endParaRPr lang="en-US" sz="1500" dirty="0"/>
          </a:p>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No wind speed, fire or satellite data.</a:t>
            </a:r>
            <a:endParaRPr lang="en-US" sz="1500" dirty="0"/>
          </a:p>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Few extreme hours; hourly values are autocorrelated, so intervals are approximate.</a:t>
            </a:r>
            <a:endParaRPr lang="en-US" sz="1500" dirty="0"/>
          </a:p>
          <a:p>
            <a:pPr algn="l" marL="182880" indent="-182880">
              <a:lnSpc>
                <a:spcPts val="2250"/>
              </a:lnSpc>
              <a:buSzPct val="100000"/>
              <a:buChar char="•"/>
            </a:pPr>
            <a:r>
              <a:rPr lang="en-US" sz="1500" dirty="0">
                <a:solidFill>
                  <a:srgbClr val="12202F"/>
                </a:solidFill>
                <a:latin typeface="DM Sans" pitchFamily="34" charset="0"/>
                <a:ea typeface="DM Sans" pitchFamily="34" charset="-122"/>
                <a:cs typeface="DM Sans" pitchFamily="34" charset="-120"/>
              </a:rPr>
              <a:t>Not a validated 24 to 48 hour warning system.</a:t>
            </a:r>
            <a:endParaRPr lang="en-US" sz="1500" dirty="0"/>
          </a:p>
        </p:txBody>
      </p:sp>
      <p:sp>
        <p:nvSpPr>
          <p:cNvPr id="5"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DM Sans" pitchFamily="34" charset="0"/>
                <a:ea typeface="DM Sans" pitchFamily="34" charset="-122"/>
                <a:cs typeface="DM Sans" pitchFamily="34" charset="-120"/>
              </a:rPr>
              <a:t>Short-horizon PM2.5 forecasting · Marine Terrace</a:t>
            </a:r>
            <a:endParaRPr lang="en-US" sz="1200" dirty="0"/>
          </a:p>
        </p:txBody>
      </p:sp>
      <p:sp>
        <p:nvSpPr>
          <p:cNvPr id="6"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DM Sans" pitchFamily="34" charset="0"/>
                <a:ea typeface="DM Sans" pitchFamily="34" charset="-122"/>
                <a:cs typeface="DM Sans" pitchFamily="34" charset="-120"/>
              </a:rPr>
              <a:t>Backup: tuning search and cross-validated error</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4002"/>
          <a:ext cx="10556240" cy="1640840"/>
        </p:xfrm>
        <a:graphic>
          <a:graphicData uri="http://schemas.openxmlformats.org/drawingml/2006/table">
            <a:tbl>
              <a:tblPr/>
              <a:tblGrid>
                <a:gridCol w="1794561"/>
                <a:gridCol w="3272434"/>
                <a:gridCol w="1794561"/>
                <a:gridCol w="1794561"/>
                <a:gridCol w="1900123"/>
              </a:tblGrid>
              <a:tr h="410210">
                <a:tc>
                  <a:txBody>
                    <a:bodyPr/>
                    <a:lstStyle/>
                    <a:p>
                      <a:pPr indent="0" marL="0">
                        <a:lnSpc>
                          <a:spcPts val="2100"/>
                        </a:lnSpc>
                        <a:buNone/>
                      </a:pPr>
                      <a:r>
                        <a:rPr lang="en-US" sz="1500" b="1" dirty="0">
                          <a:solidFill>
                            <a:srgbClr val="F6F5F1"/>
                          </a:solidFill>
                          <a:latin typeface="DM Sans" pitchFamily="34" charset="0"/>
                          <a:ea typeface="DM Sans" pitchFamily="34" charset="-122"/>
                          <a:cs typeface="DM Sans" pitchFamily="34" charset="-120"/>
                        </a:rPr>
                        <a:t>Model</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545D67"/>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545D67"/>
                      </a:solidFill>
                      <a:prstDash val="solid"/>
                      <a:round/>
                      <a:headEnd type="none" w="med" len="med"/>
                      <a:tailEnd type="none" w="med" len="med"/>
                    </a:lnB>
                    <a:solidFill>
                      <a:srgbClr val="25313F"/>
                    </a:solidFill>
                  </a:tcPr>
                </a:tc>
                <a:tc>
                  <a:txBody>
                    <a:bodyPr/>
                    <a:lstStyle/>
                    <a:p>
                      <a:pPr indent="0" marL="0">
                        <a:lnSpc>
                          <a:spcPts val="2100"/>
                        </a:lnSpc>
                        <a:buNone/>
                      </a:pPr>
                      <a:r>
                        <a:rPr lang="en-US" sz="1500" b="1" dirty="0">
                          <a:solidFill>
                            <a:srgbClr val="F6F5F1"/>
                          </a:solidFill>
                          <a:latin typeface="DM Sans" pitchFamily="34" charset="0"/>
                          <a:ea typeface="DM Sans" pitchFamily="34" charset="-122"/>
                          <a:cs typeface="DM Sans" pitchFamily="34" charset="-120"/>
                        </a:rPr>
                        <a:t>Search space</a:t>
                      </a:r>
                      <a:endParaRPr lang="en-US" sz="1500" dirty="0">
                        <a:latin typeface="DM Sans" charset="0"/>
                        <a:ea typeface="DM Sans" charset="0"/>
                        <a:cs typeface="DM Sans" charset="0"/>
                      </a:endParaRPr>
                    </a:p>
                  </a:txBody>
                  <a:tcPr marL="66675" marR="66675" marT="66675" marB="66675" anchor="t">
                    <a:lnL w="12700" cap="flat" cmpd="sng" algn="ctr">
                      <a:solidFill>
                        <a:srgbClr val="545D67"/>
                      </a:solidFill>
                      <a:prstDash val="solid"/>
                      <a:round/>
                      <a:headEnd type="none" w="med" len="med"/>
                      <a:tailEnd type="none" w="med" len="med"/>
                    </a:lnL>
                    <a:lnR w="12700" cap="flat" cmpd="sng" algn="ctr">
                      <a:solidFill>
                        <a:srgbClr val="545D67"/>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545D67"/>
                      </a:solidFill>
                      <a:prstDash val="solid"/>
                      <a:round/>
                      <a:headEnd type="none" w="med" len="med"/>
                      <a:tailEnd type="none" w="med" len="med"/>
                    </a:lnB>
                    <a:solidFill>
                      <a:srgbClr val="25313F"/>
                    </a:solidFill>
                  </a:tcPr>
                </a:tc>
                <a:tc>
                  <a:txBody>
                    <a:bodyPr/>
                    <a:lstStyle/>
                    <a:p>
                      <a:pPr algn="r" indent="0" marL="0">
                        <a:lnSpc>
                          <a:spcPts val="2100"/>
                        </a:lnSpc>
                        <a:buNone/>
                      </a:pPr>
                      <a:r>
                        <a:rPr lang="en-US" sz="1500" b="1" dirty="0">
                          <a:solidFill>
                            <a:srgbClr val="F6F5F1"/>
                          </a:solidFill>
                          <a:latin typeface="DM Sans" pitchFamily="34" charset="0"/>
                          <a:ea typeface="DM Sans" pitchFamily="34" charset="-122"/>
                          <a:cs typeface="DM Sans" pitchFamily="34" charset="-120"/>
                        </a:rPr>
                        <a:t>1 h</a:t>
                      </a:r>
                      <a:endParaRPr lang="en-US" sz="1500" dirty="0">
                        <a:latin typeface="DM Sans" charset="0"/>
                        <a:ea typeface="DM Sans" charset="0"/>
                        <a:cs typeface="DM Sans" charset="0"/>
                      </a:endParaRPr>
                    </a:p>
                  </a:txBody>
                  <a:tcPr marL="66675" marR="66675" marT="66675" marB="66675" anchor="t">
                    <a:lnL w="12700" cap="flat" cmpd="sng" algn="ctr">
                      <a:solidFill>
                        <a:srgbClr val="545D67"/>
                      </a:solidFill>
                      <a:prstDash val="solid"/>
                      <a:round/>
                      <a:headEnd type="none" w="med" len="med"/>
                      <a:tailEnd type="none" w="med" len="med"/>
                    </a:lnL>
                    <a:lnR w="12700" cap="flat" cmpd="sng" algn="ctr">
                      <a:solidFill>
                        <a:srgbClr val="545D67"/>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545D67"/>
                      </a:solidFill>
                      <a:prstDash val="solid"/>
                      <a:round/>
                      <a:headEnd type="none" w="med" len="med"/>
                      <a:tailEnd type="none" w="med" len="med"/>
                    </a:lnB>
                    <a:solidFill>
                      <a:srgbClr val="25313F"/>
                    </a:solidFill>
                  </a:tcPr>
                </a:tc>
                <a:tc>
                  <a:txBody>
                    <a:bodyPr/>
                    <a:lstStyle/>
                    <a:p>
                      <a:pPr algn="r" indent="0" marL="0">
                        <a:lnSpc>
                          <a:spcPts val="2100"/>
                        </a:lnSpc>
                        <a:buNone/>
                      </a:pPr>
                      <a:r>
                        <a:rPr lang="en-US" sz="1500" b="1" dirty="0">
                          <a:solidFill>
                            <a:srgbClr val="F6F5F1"/>
                          </a:solidFill>
                          <a:latin typeface="DM Sans" pitchFamily="34" charset="0"/>
                          <a:ea typeface="DM Sans" pitchFamily="34" charset="-122"/>
                          <a:cs typeface="DM Sans" pitchFamily="34" charset="-120"/>
                        </a:rPr>
                        <a:t>3 h</a:t>
                      </a:r>
                      <a:endParaRPr lang="en-US" sz="1500" dirty="0">
                        <a:latin typeface="DM Sans" charset="0"/>
                        <a:ea typeface="DM Sans" charset="0"/>
                        <a:cs typeface="DM Sans" charset="0"/>
                      </a:endParaRPr>
                    </a:p>
                  </a:txBody>
                  <a:tcPr marL="66675" marR="66675" marT="66675" marB="66675" anchor="t">
                    <a:lnL w="12700" cap="flat" cmpd="sng" algn="ctr">
                      <a:solidFill>
                        <a:srgbClr val="545D67"/>
                      </a:solidFill>
                      <a:prstDash val="solid"/>
                      <a:round/>
                      <a:headEnd type="none" w="med" len="med"/>
                      <a:tailEnd type="none" w="med" len="med"/>
                    </a:lnL>
                    <a:lnR w="12700" cap="flat" cmpd="sng" algn="ctr">
                      <a:solidFill>
                        <a:srgbClr val="545D67"/>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545D67"/>
                      </a:solidFill>
                      <a:prstDash val="solid"/>
                      <a:round/>
                      <a:headEnd type="none" w="med" len="med"/>
                      <a:tailEnd type="none" w="med" len="med"/>
                    </a:lnB>
                    <a:solidFill>
                      <a:srgbClr val="25313F"/>
                    </a:solidFill>
                  </a:tcPr>
                </a:tc>
                <a:tc>
                  <a:txBody>
                    <a:bodyPr/>
                    <a:lstStyle/>
                    <a:p>
                      <a:pPr algn="r" indent="0" marL="0">
                        <a:lnSpc>
                          <a:spcPts val="2100"/>
                        </a:lnSpc>
                        <a:buNone/>
                      </a:pPr>
                      <a:r>
                        <a:rPr lang="en-US" sz="1500" b="1" dirty="0">
                          <a:solidFill>
                            <a:srgbClr val="F6F5F1"/>
                          </a:solidFill>
                          <a:latin typeface="DM Sans" pitchFamily="34" charset="0"/>
                          <a:ea typeface="DM Sans" pitchFamily="34" charset="-122"/>
                          <a:cs typeface="DM Sans" pitchFamily="34" charset="-120"/>
                        </a:rPr>
                        <a:t>6 h</a:t>
                      </a:r>
                      <a:endParaRPr lang="en-US" sz="1500" dirty="0">
                        <a:latin typeface="DM Sans" charset="0"/>
                        <a:ea typeface="DM Sans" charset="0"/>
                        <a:cs typeface="DM Sans" charset="0"/>
                      </a:endParaRPr>
                    </a:p>
                  </a:txBody>
                  <a:tcPr marL="66675" marR="66675" marT="66675" marB="66675" anchor="t">
                    <a:lnL w="12700" cap="flat" cmpd="sng" algn="ctr">
                      <a:solidFill>
                        <a:srgbClr val="545D67"/>
                      </a:solidFill>
                      <a:prstDash val="solid"/>
                      <a:round/>
                      <a:headEnd type="none" w="med" len="med"/>
                      <a:tailEnd type="none" w="med" len="med"/>
                    </a:lnL>
                    <a:lnR w="12700" cap="flat" cmpd="sng" algn="ctr">
                      <a:solidFill>
                        <a:srgbClr val="545D67"/>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545D67"/>
                      </a:solidFill>
                      <a:prstDash val="solid"/>
                      <a:round/>
                      <a:headEnd type="none" w="med" len="med"/>
                      <a:tailEnd type="none" w="med" len="med"/>
                    </a:lnB>
                    <a:solidFill>
                      <a:srgbClr val="25313F"/>
                    </a:solidFill>
                  </a:tcPr>
                </a:tc>
              </a:tr>
              <a:tr h="410210">
                <a:tc>
                  <a:txBody>
                    <a:bodyPr/>
                    <a:lstStyle/>
                    <a:p>
                      <a:pPr indent="0" marL="0">
                        <a:lnSpc>
                          <a:spcPts val="2100"/>
                        </a:lnSpc>
                        <a:buNone/>
                      </a:pPr>
                      <a:r>
                        <a:rPr lang="en-US" sz="1500" dirty="0">
                          <a:solidFill>
                            <a:srgbClr val="F6F5F1"/>
                          </a:solidFill>
                          <a:latin typeface="DM Sans" pitchFamily="34" charset="0"/>
                          <a:ea typeface="DM Sans" pitchFamily="34" charset="-122"/>
                          <a:cs typeface="DM Sans" pitchFamily="34" charset="-120"/>
                        </a:rPr>
                        <a:t>ElasticNet</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545D67"/>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indent="0" marL="0">
                        <a:lnSpc>
                          <a:spcPts val="2100"/>
                        </a:lnSpc>
                        <a:buNone/>
                      </a:pPr>
                      <a:r>
                        <a:rPr lang="en-US" sz="1500" dirty="0">
                          <a:solidFill>
                            <a:srgbClr val="F6F5F1"/>
                          </a:solidFill>
                          <a:latin typeface="DM Sans" pitchFamily="34" charset="0"/>
                          <a:ea typeface="DM Sans" pitchFamily="34" charset="-122"/>
                          <a:cs typeface="DM Sans" pitchFamily="34" charset="-120"/>
                        </a:rPr>
                        <a:t>alpha × l1_ratio (12)</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545D67"/>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5.42 → 4.67</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545D67"/>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7.52 → 7.35</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545D67"/>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8.49 → 8.48</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545D67"/>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r>
              <a:tr h="410210">
                <a:tc>
                  <a:txBody>
                    <a:bodyPr/>
                    <a:lstStyle/>
                    <a:p>
                      <a:pPr indent="0" marL="0">
                        <a:lnSpc>
                          <a:spcPts val="2100"/>
                        </a:lnSpc>
                        <a:buNone/>
                      </a:pPr>
                      <a:r>
                        <a:rPr lang="en-US" sz="1500" dirty="0">
                          <a:solidFill>
                            <a:srgbClr val="F6F5F1"/>
                          </a:solidFill>
                          <a:latin typeface="DM Sans" pitchFamily="34" charset="0"/>
                          <a:ea typeface="DM Sans" pitchFamily="34" charset="-122"/>
                          <a:cs typeface="DM Sans" pitchFamily="34" charset="-120"/>
                        </a:rPr>
                        <a:t>HistGB</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indent="0" marL="0">
                        <a:lnSpc>
                          <a:spcPts val="2100"/>
                        </a:lnSpc>
                        <a:buNone/>
                      </a:pPr>
                      <a:r>
                        <a:rPr lang="en-US" sz="1500" dirty="0">
                          <a:solidFill>
                            <a:srgbClr val="F6F5F1"/>
                          </a:solidFill>
                          <a:latin typeface="DM Sans" pitchFamily="34" charset="0"/>
                          <a:ea typeface="DM Sans" pitchFamily="34" charset="-122"/>
                          <a:cs typeface="DM Sans" pitchFamily="34" charset="-120"/>
                        </a:rPr>
                        <a:t>rate × depth × leaf (18)</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6.55 → 5.74</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9.30 → 8.75</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9.83 → 9.35</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r>
              <a:tr h="410210">
                <a:tc>
                  <a:txBody>
                    <a:bodyPr/>
                    <a:lstStyle/>
                    <a:p>
                      <a:pPr indent="0" marL="0">
                        <a:lnSpc>
                          <a:spcPts val="2100"/>
                        </a:lnSpc>
                        <a:buNone/>
                      </a:pPr>
                      <a:r>
                        <a:rPr lang="en-US" sz="1500" dirty="0">
                          <a:solidFill>
                            <a:srgbClr val="F6F5F1"/>
                          </a:solidFill>
                          <a:latin typeface="DM Sans" pitchFamily="34" charset="0"/>
                          <a:ea typeface="DM Sans" pitchFamily="34" charset="-122"/>
                          <a:cs typeface="DM Sans" pitchFamily="34" charset="-120"/>
                        </a:rPr>
                        <a:t>Persistence</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indent="0" marL="0">
                        <a:lnSpc>
                          <a:spcPts val="2100"/>
                        </a:lnSpc>
                        <a:buNone/>
                      </a:pPr>
                      <a:r>
                        <a:rPr lang="en-US" sz="1500" dirty="0">
                          <a:solidFill>
                            <a:srgbClr val="F6F5F1"/>
                          </a:solidFill>
                          <a:latin typeface="DM Sans" pitchFamily="34" charset="0"/>
                          <a:ea typeface="DM Sans" pitchFamily="34" charset="-122"/>
                          <a:cs typeface="DM Sans" pitchFamily="34" charset="-120"/>
                        </a:rPr>
                        <a:t>none</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4.77</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7.73</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c>
                  <a:txBody>
                    <a:bodyPr/>
                    <a:lstStyle/>
                    <a:p>
                      <a:pPr algn="r" indent="0" marL="0">
                        <a:lnSpc>
                          <a:spcPts val="2100"/>
                        </a:lnSpc>
                        <a:buNone/>
                      </a:pPr>
                      <a:r>
                        <a:rPr lang="en-US" sz="1500" dirty="0">
                          <a:solidFill>
                            <a:srgbClr val="F6F5F1"/>
                          </a:solidFill>
                          <a:latin typeface="DM Sans" pitchFamily="34" charset="0"/>
                          <a:ea typeface="DM Sans" pitchFamily="34" charset="-122"/>
                          <a:cs typeface="DM Sans" pitchFamily="34" charset="-120"/>
                        </a:rPr>
                        <a:t>9.29</a:t>
                      </a:r>
                      <a:endParaRPr lang="en-US" sz="1500" dirty="0">
                        <a:latin typeface="DM Sans" charset="0"/>
                        <a:ea typeface="DM Sans" charset="0"/>
                        <a:cs typeface="DM Sans" charset="0"/>
                      </a:endParaRPr>
                    </a:p>
                  </a:txBody>
                  <a:tcPr marL="66675" marR="66675" marT="66675" marB="66675" anchor="t">
                    <a:lnL w="12700" cap="flat" cmpd="sng" algn="ctr">
                      <a:solidFill>
                        <a:srgbClr val="45505B"/>
                      </a:solidFill>
                      <a:prstDash val="solid"/>
                      <a:round/>
                      <a:headEnd type="none" w="med" len="med"/>
                      <a:tailEnd type="none" w="med" len="med"/>
                    </a:lnL>
                    <a:lnR w="12700" cap="flat" cmpd="sng" algn="ctr">
                      <a:solidFill>
                        <a:srgbClr val="45505B"/>
                      </a:solidFill>
                      <a:prstDash val="solid"/>
                      <a:round/>
                      <a:headEnd type="none" w="med" len="med"/>
                      <a:tailEnd type="none" w="med" len="med"/>
                    </a:lnR>
                    <a:lnT w="12700" cap="flat" cmpd="sng" algn="ctr">
                      <a:solidFill>
                        <a:srgbClr val="45505B"/>
                      </a:solidFill>
                      <a:prstDash val="solid"/>
                      <a:round/>
                      <a:headEnd type="none" w="med" len="med"/>
                      <a:tailEnd type="none" w="med" len="med"/>
                    </a:lnT>
                    <a:lnB w="12700" cap="flat" cmpd="sng" algn="ctr">
                      <a:solidFill>
                        <a:srgbClr val="45505B"/>
                      </a:solidFill>
                      <a:prstDash val="solid"/>
                      <a:round/>
                      <a:headEnd type="none" w="med" len="med"/>
                      <a:tailEnd type="none" w="med" len="med"/>
                    </a:lnB>
                  </a:tcPr>
                </a:tc>
              </a:tr>
            </a:tbl>
          </a:graphicData>
        </a:graphic>
      </p:graphicFrame>
      <p:sp>
        <p:nvSpPr>
          <p:cNvPr id="4" name="Text 1"/>
          <p:cNvSpPr/>
          <p:nvPr/>
        </p:nvSpPr>
        <p:spPr>
          <a:xfrm>
            <a:off x="812800" y="3418842"/>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D0"/>
                </a:solidFill>
                <a:latin typeface="DM Sans" pitchFamily="34" charset="0"/>
                <a:ea typeface="DM Sans" pitchFamily="34" charset="-122"/>
                <a:cs typeface="DM Sans" pitchFamily="34" charset="-120"/>
              </a:rPr>
              <a:t>Cross-validated MAE (µg/m³), default → tuned, four expanding-window folds on train plus validation. The default configuration is inside every grid, so tuning cannot do worse in cross-validation. Random Forest was in the initial comparison but not shortlisted.</a:t>
            </a:r>
            <a:endParaRPr lang="en-US" sz="1400" dirty="0"/>
          </a:p>
        </p:txBody>
      </p:sp>
      <p:sp>
        <p:nvSpPr>
          <p:cNvPr id="5" name="Text 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0"/>
                </a:solidFill>
                <a:latin typeface="DM Sans" pitchFamily="34" charset="0"/>
                <a:ea typeface="DM Sans" pitchFamily="34" charset="-122"/>
                <a:cs typeface="DM Sans" pitchFamily="34" charset="-120"/>
              </a:rPr>
              <a:t>Short-horizon PM2.5 forecasting · Marine Terrace</a:t>
            </a:r>
            <a:endParaRPr lang="en-US" sz="1200" dirty="0"/>
          </a:p>
        </p:txBody>
      </p:sp>
      <p:sp>
        <p:nvSpPr>
          <p:cNvPr id="6" name="Text 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D0"/>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theme/theme1.xml><?xml version="1.0" encoding="utf-8"?>
<a:theme xmlns:a="http://schemas.openxmlformats.org/drawingml/2006/main" name="PM2.5 Short-Horizon Forecasting Pitch">
  <a:themeElements>
    <a:clrScheme name="PM2.5 Short-Horizon Forecasting Pitch">
      <a:dk1>
        <a:srgbClr val="12202F"/>
      </a:dk1>
      <a:lt1>
        <a:srgbClr val="F6F5F1"/>
      </a:lt1>
      <a:dk2>
        <a:srgbClr val="4B5560"/>
      </a:dk2>
      <a:lt2>
        <a:srgbClr val="DFE0DE"/>
      </a:lt2>
      <a:accent1>
        <a:srgbClr val="1F63B8"/>
      </a:accent1>
      <a:accent2>
        <a:srgbClr val="6FA8EE"/>
      </a:accent2>
      <a:accent3>
        <a:srgbClr val="C2491A"/>
      </a:accent3>
      <a:accent4>
        <a:srgbClr val="B9C4D0"/>
      </a:accent4>
      <a:accent5>
        <a:srgbClr val="5B6572"/>
      </a:accent5>
      <a:accent6>
        <a:srgbClr val="4A5563"/>
      </a:accent6>
      <a:hlink>
        <a:srgbClr val="0563C1"/>
      </a:hlink>
      <a:folHlink>
        <a:srgbClr val="954F72"/>
      </a:folHlink>
    </a:clrScheme>
    <a:fontScheme name="PM2.5 Short-Horizon Forecasting Pitch">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PM2.5 Short-Horizon Forecasting Pitch</dc:title>
  <dc:subject/>
  <dc:creator/>
  <cp:lastModifiedBy/>
  <cp:revision>1</cp:revision>
  <dcterms:created xsi:type="dcterms:W3CDTF">2026-10-19T06:40:24Z</dcterms:created>
  <dcterms:modified xsi:type="dcterms:W3CDTF">2026-10-19T06:40:24Z</dcterms:modified>
</cp:coreProperties>
</file>